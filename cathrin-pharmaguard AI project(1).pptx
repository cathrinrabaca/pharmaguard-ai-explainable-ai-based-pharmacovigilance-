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9144000"/>
  <p:embeddedFontLst>
    <p:embeddedFont>
      <p:font typeface="Libre Franklin"/>
      <p:regular r:id="rId24"/>
      <p:bold r:id="rId25"/>
      <p:italic r:id="rId26"/>
      <p:boldItalic r:id="rId27"/>
    </p:embeddedFont>
    <p:embeddedFont>
      <p:font typeface="Franklin Gothic"/>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LibreFranklin-regular.fntdata"/><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ibreFranklin-italic.fntdata"/><Relationship Id="rId25" Type="http://schemas.openxmlformats.org/officeDocument/2006/relationships/font" Target="fonts/LibreFranklin-bold.fntdata"/><Relationship Id="rId28" Type="http://schemas.openxmlformats.org/officeDocument/2006/relationships/font" Target="fonts/FranklinGothic-bold.fntdata"/><Relationship Id="rId27" Type="http://schemas.openxmlformats.org/officeDocument/2006/relationships/font" Target="fonts/LibreFranklin-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409cf50dcec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409cf50dcec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409cf50dcec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409cf50dcec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409cf50dcec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g409cf50dcec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409be803fb7_1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409be803fb7_1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409be803fb7_1_4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409be803fb7_1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409be803fb7_1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g409be803fb7_1_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409be803fb7_1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409be803fb7_1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g409be803fb7_1_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409be803fb7_1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409be803fb7_1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g409be803fb7_1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409be803fb7_1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409be803fb7_1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g409be803fb7_1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p:nvPr/>
        </p:nvSpPr>
        <p:spPr>
          <a:xfrm>
            <a:off x="446534" y="3085764"/>
            <a:ext cx="11298932" cy="3338149"/>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3600"/>
              <a:buFont typeface="Franklin Gothic"/>
              <a:buNone/>
              <a:defRPr sz="36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lnSpc>
                <a:spcPct val="110000"/>
              </a:lnSpc>
              <a:spcBef>
                <a:spcPts val="320"/>
              </a:spcBef>
              <a:spcAft>
                <a:spcPts val="0"/>
              </a:spcAft>
              <a:buSzPts val="1472"/>
              <a:buNone/>
              <a:defRPr sz="1600" cap="none">
                <a:solidFill>
                  <a:schemeClr val="accent1"/>
                </a:solidFill>
              </a:defRPr>
            </a:lvl1pPr>
            <a:lvl2pPr lvl="1" algn="ctr">
              <a:spcBef>
                <a:spcPts val="600"/>
              </a:spcBef>
              <a:spcAft>
                <a:spcPts val="0"/>
              </a:spcAft>
              <a:buSzPts val="1288"/>
              <a:buNone/>
              <a:defRPr>
                <a:solidFill>
                  <a:srgbClr val="888888"/>
                </a:solidFill>
              </a:defRPr>
            </a:lvl2pPr>
            <a:lvl3pPr lvl="2" algn="ctr">
              <a:spcBef>
                <a:spcPts val="600"/>
              </a:spcBef>
              <a:spcAft>
                <a:spcPts val="0"/>
              </a:spcAft>
              <a:buSzPts val="1196"/>
              <a:buNone/>
              <a:defRPr>
                <a:solidFill>
                  <a:srgbClr val="888888"/>
                </a:solidFill>
              </a:defRPr>
            </a:lvl3pPr>
            <a:lvl4pPr lvl="3" algn="ctr">
              <a:spcBef>
                <a:spcPts val="600"/>
              </a:spcBef>
              <a:spcAft>
                <a:spcPts val="0"/>
              </a:spcAft>
              <a:buSzPts val="1012"/>
              <a:buNone/>
              <a:defRPr>
                <a:solidFill>
                  <a:srgbClr val="888888"/>
                </a:solidFill>
              </a:defRPr>
            </a:lvl4pPr>
            <a:lvl5pPr lvl="4" algn="ctr">
              <a:spcBef>
                <a:spcPts val="600"/>
              </a:spcBef>
              <a:spcAft>
                <a:spcPts val="0"/>
              </a:spcAft>
              <a:buSzPts val="1012"/>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p:txBody>
      </p:sp>
      <p:sp>
        <p:nvSpPr>
          <p:cNvPr id="22" name="Google Shape;22;p2"/>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24" name="Google Shape;24;p2"/>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 type="body"/>
          </p:nvPr>
        </p:nvSpPr>
        <p:spPr>
          <a:xfrm>
            <a:off x="581192" y="1302026"/>
            <a:ext cx="11029615" cy="4673324"/>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28" name="Google Shape;28;p3"/>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
          <p:cNvSpPr txBox="1"/>
          <p:nvPr>
            <p:ph type="title"/>
          </p:nvPr>
        </p:nvSpPr>
        <p:spPr>
          <a:xfrm>
            <a:off x="575894" y="729658"/>
            <a:ext cx="11029616" cy="59224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33" name="Google Shape;33;p4"/>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5"/>
          <p:cNvSpPr/>
          <p:nvPr/>
        </p:nvSpPr>
        <p:spPr>
          <a:xfrm>
            <a:off x="447817" y="5141974"/>
            <a:ext cx="11290860" cy="125882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txBox="1"/>
          <p:nvPr>
            <p:ph type="title"/>
          </p:nvPr>
        </p:nvSpPr>
        <p:spPr>
          <a:xfrm>
            <a:off x="581193" y="2393950"/>
            <a:ext cx="11029615" cy="214746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3600"/>
              <a:buFont typeface="Franklin Gothic"/>
              <a:buNone/>
              <a:defRPr b="0" sz="3600" cap="none">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60"/>
              </a:spcBef>
              <a:spcAft>
                <a:spcPts val="0"/>
              </a:spcAft>
              <a:buSzPts val="1656"/>
              <a:buNone/>
              <a:defRPr sz="1800" cap="none">
                <a:solidFill>
                  <a:schemeClr val="accent1"/>
                </a:solidFill>
              </a:defRPr>
            </a:lvl1pPr>
            <a:lvl2pPr indent="-228600" lvl="1" marL="914400" algn="l">
              <a:spcBef>
                <a:spcPts val="600"/>
              </a:spcBef>
              <a:spcAft>
                <a:spcPts val="0"/>
              </a:spcAft>
              <a:buSzPts val="1656"/>
              <a:buNone/>
              <a:defRPr sz="1800">
                <a:solidFill>
                  <a:srgbClr val="888888"/>
                </a:solidFill>
              </a:defRPr>
            </a:lvl2pPr>
            <a:lvl3pPr indent="-228600" lvl="2" marL="1371600" algn="l">
              <a:spcBef>
                <a:spcPts val="600"/>
              </a:spcBef>
              <a:spcAft>
                <a:spcPts val="0"/>
              </a:spcAft>
              <a:buSzPts val="1472"/>
              <a:buNone/>
              <a:defRPr sz="1600">
                <a:solidFill>
                  <a:srgbClr val="888888"/>
                </a:solidFill>
              </a:defRPr>
            </a:lvl3pPr>
            <a:lvl4pPr indent="-228600" lvl="3" marL="1828800" algn="l">
              <a:spcBef>
                <a:spcPts val="600"/>
              </a:spcBef>
              <a:spcAft>
                <a:spcPts val="0"/>
              </a:spcAft>
              <a:buSzPts val="1288"/>
              <a:buNone/>
              <a:defRPr sz="1400">
                <a:solidFill>
                  <a:srgbClr val="888888"/>
                </a:solidFill>
              </a:defRPr>
            </a:lvl4pPr>
            <a:lvl5pPr indent="-228600" lvl="4" marL="2286000" algn="l">
              <a:spcBef>
                <a:spcPts val="600"/>
              </a:spcBef>
              <a:spcAft>
                <a:spcPts val="0"/>
              </a:spcAft>
              <a:buSzPts val="1288"/>
              <a:buNone/>
              <a:defRPr sz="1400">
                <a:solidFill>
                  <a:srgbClr val="888888"/>
                </a:solidFill>
              </a:defRPr>
            </a:lvl5pPr>
            <a:lvl6pPr indent="-228600" lvl="5" marL="2743200" algn="l">
              <a:spcBef>
                <a:spcPts val="600"/>
              </a:spcBef>
              <a:spcAft>
                <a:spcPts val="0"/>
              </a:spcAft>
              <a:buSzPts val="1288"/>
              <a:buNone/>
              <a:defRPr sz="1400">
                <a:solidFill>
                  <a:srgbClr val="888888"/>
                </a:solidFill>
              </a:defRPr>
            </a:lvl6pPr>
            <a:lvl7pPr indent="-228600" lvl="6" marL="3200400" algn="l">
              <a:spcBef>
                <a:spcPts val="600"/>
              </a:spcBef>
              <a:spcAft>
                <a:spcPts val="0"/>
              </a:spcAft>
              <a:buSzPts val="1288"/>
              <a:buNone/>
              <a:defRPr sz="1400">
                <a:solidFill>
                  <a:srgbClr val="888888"/>
                </a:solidFill>
              </a:defRPr>
            </a:lvl7pPr>
            <a:lvl8pPr indent="-228600" lvl="7" marL="3657600" algn="l">
              <a:spcBef>
                <a:spcPts val="600"/>
              </a:spcBef>
              <a:spcAft>
                <a:spcPts val="0"/>
              </a:spcAft>
              <a:buSzPts val="1288"/>
              <a:buNone/>
              <a:defRPr sz="1400">
                <a:solidFill>
                  <a:srgbClr val="888888"/>
                </a:solidFill>
              </a:defRPr>
            </a:lvl8pPr>
            <a:lvl9pPr indent="-228600" lvl="8" marL="4114800" algn="l">
              <a:spcBef>
                <a:spcPts val="600"/>
              </a:spcBef>
              <a:spcAft>
                <a:spcPts val="600"/>
              </a:spcAft>
              <a:buSzPts val="1288"/>
              <a:buNone/>
              <a:defRPr sz="1400">
                <a:solidFill>
                  <a:srgbClr val="888888"/>
                </a:solidFill>
              </a:defRPr>
            </a:lvl9pPr>
          </a:lstStyle>
          <a:p/>
        </p:txBody>
      </p:sp>
      <p:sp>
        <p:nvSpPr>
          <p:cNvPr id="38" name="Google Shape;38;p5"/>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40" name="Google Shape;40;p5"/>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6"/>
          <p:cNvSpPr txBox="1"/>
          <p:nvPr>
            <p:ph type="title"/>
          </p:nvPr>
        </p:nvSpPr>
        <p:spPr>
          <a:xfrm>
            <a:off x="581193" y="729658"/>
            <a:ext cx="11029616" cy="49285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 type="body"/>
          </p:nvPr>
        </p:nvSpPr>
        <p:spPr>
          <a:xfrm>
            <a:off x="581193" y="1391479"/>
            <a:ext cx="5194767" cy="4469572"/>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4" name="Google Shape;44;p6"/>
          <p:cNvSpPr txBox="1"/>
          <p:nvPr>
            <p:ph idx="2" type="body"/>
          </p:nvPr>
        </p:nvSpPr>
        <p:spPr>
          <a:xfrm>
            <a:off x="6416039" y="1391479"/>
            <a:ext cx="5194769" cy="4469572"/>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5" name="Google Shape;45;p6"/>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47" name="Google Shape;47;p6"/>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8" name="Shape 48"/>
        <p:cNvGrpSpPr/>
        <p:nvPr/>
      </p:nvGrpSpPr>
      <p:grpSpPr>
        <a:xfrm>
          <a:off x="0" y="0"/>
          <a:ext cx="0" cy="0"/>
          <a:chOff x="0" y="0"/>
          <a:chExt cx="0" cy="0"/>
        </a:xfrm>
      </p:grpSpPr>
      <p:sp>
        <p:nvSpPr>
          <p:cNvPr id="49" name="Google Shape;49;p7"/>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 type="body"/>
          </p:nvPr>
        </p:nvSpPr>
        <p:spPr>
          <a:xfrm>
            <a:off x="581191" y="2250891"/>
            <a:ext cx="5194769" cy="557784"/>
          </a:xfrm>
          <a:prstGeom prst="rect">
            <a:avLst/>
          </a:prstGeom>
          <a:noFill/>
          <a:ln>
            <a:noFill/>
          </a:ln>
        </p:spPr>
        <p:txBody>
          <a:bodyPr anchorCtr="0" anchor="ctr" bIns="45700" lIns="91425" spcFirstLastPara="1" rIns="91425" wrap="square" tIns="45700">
            <a:noAutofit/>
          </a:bodyPr>
          <a:lstStyle>
            <a:lvl1pPr indent="-228600" lvl="0" marL="457200" algn="l">
              <a:lnSpc>
                <a:spcPct val="110000"/>
              </a:lnSpc>
              <a:spcBef>
                <a:spcPts val="400"/>
              </a:spcBef>
              <a:spcAft>
                <a:spcPts val="0"/>
              </a:spcAft>
              <a:buSzPts val="1840"/>
              <a:buNone/>
              <a:defRPr b="0" sz="2000">
                <a:solidFill>
                  <a:srgbClr val="3F3F3F"/>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51" name="Google Shape;51;p7"/>
          <p:cNvSpPr txBox="1"/>
          <p:nvPr>
            <p:ph idx="2" type="body"/>
          </p:nvPr>
        </p:nvSpPr>
        <p:spPr>
          <a:xfrm>
            <a:off x="581194" y="2926052"/>
            <a:ext cx="5194766"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2" name="Google Shape;52;p7"/>
          <p:cNvSpPr txBox="1"/>
          <p:nvPr>
            <p:ph idx="3" type="body"/>
          </p:nvPr>
        </p:nvSpPr>
        <p:spPr>
          <a:xfrm>
            <a:off x="6416039" y="2250892"/>
            <a:ext cx="5194770" cy="553373"/>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400"/>
              </a:spcBef>
              <a:spcAft>
                <a:spcPts val="0"/>
              </a:spcAft>
              <a:buClr>
                <a:schemeClr val="accent1"/>
              </a:buClr>
              <a:buSzPts val="1840"/>
              <a:buFont typeface="Noto Sans Symbols"/>
              <a:buNone/>
              <a:defRPr b="0" sz="2000">
                <a:solidFill>
                  <a:srgbClr val="3F3F3F"/>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53" name="Google Shape;53;p7"/>
          <p:cNvSpPr txBox="1"/>
          <p:nvPr>
            <p:ph idx="4" type="body"/>
          </p:nvPr>
        </p:nvSpPr>
        <p:spPr>
          <a:xfrm>
            <a:off x="6416037" y="2926052"/>
            <a:ext cx="5194771"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4" name="Google Shape;54;p7"/>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7"/>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56" name="Google Shape;56;p7"/>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8"/>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60" name="Google Shape;60;p8"/>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9"/>
          <p:cNvSpPr/>
          <p:nvPr/>
        </p:nvSpPr>
        <p:spPr>
          <a:xfrm>
            <a:off x="447817" y="601200"/>
            <a:ext cx="3682723" cy="5815475"/>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9"/>
          <p:cNvSpPr txBox="1"/>
          <p:nvPr>
            <p:ph type="title"/>
          </p:nvPr>
        </p:nvSpPr>
        <p:spPr>
          <a:xfrm>
            <a:off x="767857" y="933450"/>
            <a:ext cx="3031852" cy="1722419"/>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FFFFFF"/>
              </a:buClr>
              <a:buSzPts val="2400"/>
              <a:buFont typeface="Franklin Gothic"/>
              <a:buNone/>
              <a:defRPr b="0" sz="24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 type="body"/>
          </p:nvPr>
        </p:nvSpPr>
        <p:spPr>
          <a:xfrm>
            <a:off x="4900928" y="1179829"/>
            <a:ext cx="6650991" cy="4658216"/>
          </a:xfrm>
          <a:prstGeom prst="rect">
            <a:avLst/>
          </a:prstGeom>
          <a:noFill/>
          <a:ln>
            <a:noFill/>
          </a:ln>
        </p:spPr>
        <p:txBody>
          <a:bodyPr anchorCtr="0" anchor="ctr" bIns="45700" lIns="91425" spcFirstLastPara="1" rIns="91425" wrap="square" tIns="45700">
            <a:normAutofit/>
          </a:bodyPr>
          <a:lstStyle>
            <a:lvl1pPr indent="-345440" lvl="0" marL="457200" algn="l">
              <a:lnSpc>
                <a:spcPct val="110000"/>
              </a:lnSpc>
              <a:spcBef>
                <a:spcPts val="400"/>
              </a:spcBef>
              <a:spcAft>
                <a:spcPts val="0"/>
              </a:spcAft>
              <a:buSzPts val="1840"/>
              <a:buChar char="◼"/>
              <a:defRPr sz="2000">
                <a:solidFill>
                  <a:schemeClr val="dk2"/>
                </a:solidFill>
              </a:defRPr>
            </a:lvl1pPr>
            <a:lvl2pPr indent="-333756" lvl="1" marL="914400" algn="l">
              <a:spcBef>
                <a:spcPts val="600"/>
              </a:spcBef>
              <a:spcAft>
                <a:spcPts val="0"/>
              </a:spcAft>
              <a:buSzPts val="1656"/>
              <a:buChar char="◼"/>
              <a:defRPr sz="1800">
                <a:solidFill>
                  <a:schemeClr val="dk2"/>
                </a:solidFill>
              </a:defRPr>
            </a:lvl2pPr>
            <a:lvl3pPr indent="-322072" lvl="2" marL="1371600" algn="l">
              <a:spcBef>
                <a:spcPts val="600"/>
              </a:spcBef>
              <a:spcAft>
                <a:spcPts val="0"/>
              </a:spcAft>
              <a:buSzPts val="1472"/>
              <a:buChar char="◼"/>
              <a:defRPr sz="1600">
                <a:solidFill>
                  <a:schemeClr val="dk2"/>
                </a:solidFill>
              </a:defRPr>
            </a:lvl3pPr>
            <a:lvl4pPr indent="-310388" lvl="3" marL="1828800" algn="l">
              <a:spcBef>
                <a:spcPts val="600"/>
              </a:spcBef>
              <a:spcAft>
                <a:spcPts val="0"/>
              </a:spcAft>
              <a:buSzPts val="1288"/>
              <a:buChar char="◼"/>
              <a:defRPr sz="1400">
                <a:solidFill>
                  <a:schemeClr val="dk2"/>
                </a:solidFill>
              </a:defRPr>
            </a:lvl4pPr>
            <a:lvl5pPr indent="-310388" lvl="4" marL="2286000" algn="l">
              <a:spcBef>
                <a:spcPts val="600"/>
              </a:spcBef>
              <a:spcAft>
                <a:spcPts val="0"/>
              </a:spcAft>
              <a:buSzPts val="1288"/>
              <a:buChar char="◼"/>
              <a:defRPr sz="1400">
                <a:solidFill>
                  <a:schemeClr val="dk2"/>
                </a:solidFill>
              </a:defRPr>
            </a:lvl5pPr>
            <a:lvl6pPr indent="-310388" lvl="5" marL="2743200" algn="l">
              <a:spcBef>
                <a:spcPts val="600"/>
              </a:spcBef>
              <a:spcAft>
                <a:spcPts val="0"/>
              </a:spcAft>
              <a:buSzPts val="1288"/>
              <a:buChar char="◼"/>
              <a:defRPr sz="1400">
                <a:solidFill>
                  <a:schemeClr val="dk2"/>
                </a:solidFill>
              </a:defRPr>
            </a:lvl6pPr>
            <a:lvl7pPr indent="-310388" lvl="6" marL="3200400" algn="l">
              <a:spcBef>
                <a:spcPts val="600"/>
              </a:spcBef>
              <a:spcAft>
                <a:spcPts val="0"/>
              </a:spcAft>
              <a:buSzPts val="1288"/>
              <a:buChar char="◼"/>
              <a:defRPr sz="1400">
                <a:solidFill>
                  <a:schemeClr val="dk2"/>
                </a:solidFill>
              </a:defRPr>
            </a:lvl7pPr>
            <a:lvl8pPr indent="-310388" lvl="7" marL="3657600" algn="l">
              <a:spcBef>
                <a:spcPts val="600"/>
              </a:spcBef>
              <a:spcAft>
                <a:spcPts val="0"/>
              </a:spcAft>
              <a:buSzPts val="1288"/>
              <a:buChar char="◼"/>
              <a:defRPr sz="1400">
                <a:solidFill>
                  <a:schemeClr val="dk2"/>
                </a:solidFill>
              </a:defRPr>
            </a:lvl8pPr>
            <a:lvl9pPr indent="-310388" lvl="8" marL="4114800" algn="l">
              <a:spcBef>
                <a:spcPts val="600"/>
              </a:spcBef>
              <a:spcAft>
                <a:spcPts val="600"/>
              </a:spcAft>
              <a:buSzPts val="1288"/>
              <a:buChar char="◼"/>
              <a:defRPr sz="1400">
                <a:solidFill>
                  <a:schemeClr val="dk2"/>
                </a:solidFill>
              </a:defRPr>
            </a:lvl9pPr>
          </a:lstStyle>
          <a:p/>
        </p:txBody>
      </p:sp>
      <p:sp>
        <p:nvSpPr>
          <p:cNvPr id="65" name="Google Shape;65;p9"/>
          <p:cNvSpPr txBox="1"/>
          <p:nvPr>
            <p:ph idx="2" type="body"/>
          </p:nvPr>
        </p:nvSpPr>
        <p:spPr>
          <a:xfrm>
            <a:off x="767857" y="2836654"/>
            <a:ext cx="3031852" cy="300139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20"/>
              </a:spcBef>
              <a:spcAft>
                <a:spcPts val="0"/>
              </a:spcAft>
              <a:buSzPts val="1472"/>
              <a:buNone/>
              <a:defRPr sz="1600">
                <a:solidFill>
                  <a:srgbClr val="FFFFFF"/>
                </a:solidFill>
              </a:defRPr>
            </a:lvl1pPr>
            <a:lvl2pPr indent="-228600" lvl="1" marL="914400" algn="l">
              <a:spcBef>
                <a:spcPts val="600"/>
              </a:spcBef>
              <a:spcAft>
                <a:spcPts val="0"/>
              </a:spcAft>
              <a:buSzPts val="1012"/>
              <a:buNone/>
              <a:defRPr sz="11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66" name="Google Shape;66;p9"/>
          <p:cNvSpPr txBox="1"/>
          <p:nvPr>
            <p:ph idx="10" type="dt"/>
          </p:nvPr>
        </p:nvSpPr>
        <p:spPr>
          <a:xfrm>
            <a:off x="7605951" y="6456916"/>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
          <p:cNvSpPr txBox="1"/>
          <p:nvPr>
            <p:ph idx="11" type="ftr"/>
          </p:nvPr>
        </p:nvSpPr>
        <p:spPr>
          <a:xfrm>
            <a:off x="581192" y="6452590"/>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68" name="Google Shape;68;p9"/>
          <p:cNvSpPr txBox="1"/>
          <p:nvPr>
            <p:ph idx="12" type="sldNum"/>
          </p:nvPr>
        </p:nvSpPr>
        <p:spPr>
          <a:xfrm>
            <a:off x="10558300" y="6456916"/>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10"/>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2400"/>
              <a:buFont typeface="Franklin Gothic"/>
              <a:buNone/>
              <a:defRPr b="0" sz="24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p:nvPr>
            <p:ph idx="2" type="pic"/>
          </p:nvPr>
        </p:nvSpPr>
        <p:spPr>
          <a:xfrm>
            <a:off x="447817" y="641350"/>
            <a:ext cx="11290859" cy="3651249"/>
          </a:xfrm>
          <a:prstGeom prst="rect">
            <a:avLst/>
          </a:prstGeom>
          <a:noFill/>
          <a:ln>
            <a:noFill/>
          </a:ln>
        </p:spPr>
      </p:sp>
      <p:sp>
        <p:nvSpPr>
          <p:cNvPr id="72" name="Google Shape;72;p10"/>
          <p:cNvSpPr txBox="1"/>
          <p:nvPr>
            <p:ph idx="1" type="body"/>
          </p:nvPr>
        </p:nvSpPr>
        <p:spPr>
          <a:xfrm>
            <a:off x="581192" y="5260127"/>
            <a:ext cx="11029617" cy="99814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20"/>
              </a:spcBef>
              <a:spcAft>
                <a:spcPts val="0"/>
              </a:spcAft>
              <a:buSzPts val="1472"/>
              <a:buNone/>
              <a:defRPr sz="1600"/>
            </a:lvl1pPr>
            <a:lvl2pPr indent="-228600" lvl="1" marL="914400" algn="l">
              <a:spcBef>
                <a:spcPts val="600"/>
              </a:spcBef>
              <a:spcAft>
                <a:spcPts val="0"/>
              </a:spcAft>
              <a:buSzPts val="1104"/>
              <a:buNone/>
              <a:defRPr sz="12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73" name="Google Shape;73;p10"/>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0"/>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75" name="Google Shape;75;p10"/>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11"/>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 type="body"/>
          </p:nvPr>
        </p:nvSpPr>
        <p:spPr>
          <a:xfrm rot="5400000">
            <a:off x="3809574" y="-1813184"/>
            <a:ext cx="4572852" cy="11029616"/>
          </a:xfrm>
          <a:prstGeom prst="rect">
            <a:avLst/>
          </a:prstGeom>
          <a:noFill/>
          <a:ln>
            <a:noFill/>
          </a:ln>
        </p:spPr>
        <p:txBody>
          <a:bodyPr anchorCtr="0" anchor="t" bIns="45700" lIns="91425" spcFirstLastPara="1" rIns="91425" wrap="square" tIns="45700">
            <a:normAutofit/>
          </a:bodyPr>
          <a:lstStyle>
            <a:lvl1pPr indent="-327914" lvl="0" marL="457200" algn="l">
              <a:lnSpc>
                <a:spcPct val="110000"/>
              </a:lnSpc>
              <a:spcBef>
                <a:spcPts val="340"/>
              </a:spcBef>
              <a:spcAft>
                <a:spcPts val="0"/>
              </a:spcAft>
              <a:buSzPts val="1564"/>
              <a:buChar char="◼"/>
              <a:defRPr/>
            </a:lvl1pPr>
            <a:lvl2pPr indent="-310388" lvl="1" marL="914400" algn="l">
              <a:spcBef>
                <a:spcPts val="600"/>
              </a:spcBef>
              <a:spcAft>
                <a:spcPts val="0"/>
              </a:spcAft>
              <a:buSzPts val="1288"/>
              <a:buChar char="◼"/>
              <a:defRPr/>
            </a:lvl2pPr>
            <a:lvl3pPr indent="-304546" lvl="2" marL="1371600" algn="l">
              <a:spcBef>
                <a:spcPts val="600"/>
              </a:spcBef>
              <a:spcAft>
                <a:spcPts val="0"/>
              </a:spcAft>
              <a:buSzPts val="1196"/>
              <a:buChar char="◼"/>
              <a:defRPr/>
            </a:lvl3pPr>
            <a:lvl4pPr indent="-292862" lvl="3" marL="1828800" algn="l">
              <a:spcBef>
                <a:spcPts val="600"/>
              </a:spcBef>
              <a:spcAft>
                <a:spcPts val="0"/>
              </a:spcAft>
              <a:buSzPts val="1012"/>
              <a:buChar char="◼"/>
              <a:defRPr/>
            </a:lvl4pPr>
            <a:lvl5pPr indent="-292862" lvl="4" marL="2286000" algn="l">
              <a:spcBef>
                <a:spcPts val="600"/>
              </a:spcBef>
              <a:spcAft>
                <a:spcPts val="0"/>
              </a:spcAft>
              <a:buSzPts val="1012"/>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79" name="Google Shape;79;p11"/>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1"/>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81" name="Google Shape;81;p11"/>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2" name="Shape 82"/>
        <p:cNvGrpSpPr/>
        <p:nvPr/>
      </p:nvGrpSpPr>
      <p:grpSpPr>
        <a:xfrm>
          <a:off x="0" y="0"/>
          <a:ext cx="0" cy="0"/>
          <a:chOff x="0" y="0"/>
          <a:chExt cx="0" cy="0"/>
        </a:xfrm>
      </p:grpSpPr>
      <p:sp>
        <p:nvSpPr>
          <p:cNvPr id="83" name="Google Shape;83;p12"/>
          <p:cNvSpPr/>
          <p:nvPr/>
        </p:nvSpPr>
        <p:spPr>
          <a:xfrm>
            <a:off x="8058151" y="599725"/>
            <a:ext cx="3687316" cy="581695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2"/>
          <p:cNvSpPr txBox="1"/>
          <p:nvPr>
            <p:ph type="title"/>
          </p:nvPr>
        </p:nvSpPr>
        <p:spPr>
          <a:xfrm rot="5400000">
            <a:off x="7362637" y="1705163"/>
            <a:ext cx="4807326" cy="3124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FFFFFF"/>
              </a:buClr>
              <a:buSzPts val="2800"/>
              <a:buFont typeface="Franklin Gothic"/>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2"/>
          <p:cNvSpPr txBox="1"/>
          <p:nvPr>
            <p:ph idx="1" type="body"/>
          </p:nvPr>
        </p:nvSpPr>
        <p:spPr>
          <a:xfrm rot="5400000">
            <a:off x="1952072" y="-313549"/>
            <a:ext cx="4807326" cy="7161625"/>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86" name="Google Shape;86;p12"/>
          <p:cNvSpPr/>
          <p:nvPr/>
        </p:nvSpPr>
        <p:spPr>
          <a:xfrm>
            <a:off x="446534" y="457200"/>
            <a:ext cx="3703320" cy="94997"/>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2"/>
          <p:cNvSpPr/>
          <p:nvPr/>
        </p:nvSpPr>
        <p:spPr>
          <a:xfrm>
            <a:off x="8042147" y="453643"/>
            <a:ext cx="3703320" cy="98554"/>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2"/>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2"/>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2"/>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91" name="Google Shape;91;p12"/>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81192" y="705124"/>
            <a:ext cx="11029616" cy="557146"/>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3F3F3F"/>
              </a:buClr>
              <a:buSzPts val="2800"/>
              <a:buFont typeface="Franklin Gothic"/>
              <a:buNone/>
              <a:defRPr b="0" i="0" sz="2800" u="none" cap="none" strike="noStrike">
                <a:solidFill>
                  <a:srgbClr val="3F3F3F"/>
                </a:solidFill>
                <a:latin typeface="Franklin Gothic"/>
                <a:ea typeface="Franklin Gothic"/>
                <a:cs typeface="Franklin Gothic"/>
                <a:sym typeface="Franklin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 name="Google Shape;11;p1"/>
          <p:cNvSpPr txBox="1"/>
          <p:nvPr>
            <p:ph idx="1" type="body"/>
          </p:nvPr>
        </p:nvSpPr>
        <p:spPr>
          <a:xfrm>
            <a:off x="581192" y="1415198"/>
            <a:ext cx="11029616" cy="4572852"/>
          </a:xfrm>
          <a:prstGeom prst="rect">
            <a:avLst/>
          </a:prstGeom>
          <a:noFill/>
          <a:ln>
            <a:noFill/>
          </a:ln>
        </p:spPr>
        <p:txBody>
          <a:bodyPr anchorCtr="0" anchor="ctr" bIns="45700" lIns="91425" spcFirstLastPara="1" rIns="91425" wrap="square" tIns="45700">
            <a:normAutofit/>
          </a:bodyPr>
          <a:lstStyle>
            <a:lvl1pPr indent="-327914" lvl="0" marL="457200" marR="0" rtl="0" algn="l">
              <a:lnSpc>
                <a:spcPct val="110000"/>
              </a:lnSpc>
              <a:spcBef>
                <a:spcPts val="340"/>
              </a:spcBef>
              <a:spcAft>
                <a:spcPts val="0"/>
              </a:spcAft>
              <a:buClr>
                <a:schemeClr val="accent1"/>
              </a:buClr>
              <a:buSzPts val="1564"/>
              <a:buFont typeface="Noto Sans Symbols"/>
              <a:buChar char="◼"/>
              <a:defRPr b="0" i="0" sz="1700" u="none" cap="none" strike="noStrike">
                <a:solidFill>
                  <a:srgbClr val="3F3F3F"/>
                </a:solidFill>
                <a:latin typeface="Libre Franklin"/>
                <a:ea typeface="Libre Franklin"/>
                <a:cs typeface="Libre Franklin"/>
                <a:sym typeface="Libre Franklin"/>
              </a:defRPr>
            </a:lvl1pPr>
            <a:lvl2pPr indent="-310388" lvl="1" marL="914400" marR="0" rtl="0" algn="l">
              <a:spcBef>
                <a:spcPts val="600"/>
              </a:spcBef>
              <a:spcAft>
                <a:spcPts val="0"/>
              </a:spcAft>
              <a:buClr>
                <a:schemeClr val="accent1"/>
              </a:buClr>
              <a:buSzPts val="1288"/>
              <a:buFont typeface="Noto Sans Symbols"/>
              <a:buChar char="◼"/>
              <a:defRPr b="0" i="0" sz="1400" u="none" cap="none" strike="noStrike">
                <a:solidFill>
                  <a:srgbClr val="3F3F3F"/>
                </a:solidFill>
                <a:latin typeface="Libre Franklin"/>
                <a:ea typeface="Libre Franklin"/>
                <a:cs typeface="Libre Franklin"/>
                <a:sym typeface="Libre Franklin"/>
              </a:defRPr>
            </a:lvl2pPr>
            <a:lvl3pPr indent="-304546" lvl="2" marL="1371600" marR="0" rtl="0" algn="l">
              <a:spcBef>
                <a:spcPts val="600"/>
              </a:spcBef>
              <a:spcAft>
                <a:spcPts val="0"/>
              </a:spcAft>
              <a:buClr>
                <a:schemeClr val="accent1"/>
              </a:buClr>
              <a:buSzPts val="1196"/>
              <a:buFont typeface="Noto Sans Symbols"/>
              <a:buChar char="◼"/>
              <a:defRPr b="0" i="0" sz="1300" u="none" cap="none" strike="noStrike">
                <a:solidFill>
                  <a:srgbClr val="3F3F3F"/>
                </a:solidFill>
                <a:latin typeface="Libre Franklin"/>
                <a:ea typeface="Libre Franklin"/>
                <a:cs typeface="Libre Franklin"/>
                <a:sym typeface="Libre Franklin"/>
              </a:defRPr>
            </a:lvl3pPr>
            <a:lvl4pPr indent="-292862" lvl="3" marL="18288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4pPr>
            <a:lvl5pPr indent="-292862" lvl="4" marL="22860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7pPr>
            <a:lvl8pPr indent="-298704"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8pPr>
            <a:lvl9pPr indent="-298704"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9pPr>
          </a:lstStyle>
          <a:p/>
        </p:txBody>
      </p:sp>
      <p:sp>
        <p:nvSpPr>
          <p:cNvPr id="12" name="Google Shape;12;p1"/>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3F3F3F"/>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3" name="Google Shape;13;p1"/>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3F3F3F"/>
                </a:solidFill>
                <a:latin typeface="Libre Franklin"/>
                <a:ea typeface="Libre Franklin"/>
                <a:cs typeface="Libre Franklin"/>
                <a:sym typeface="Libre Franklin"/>
              </a:defRPr>
            </a:lvl1pPr>
            <a:lvl2pPr indent="0" lvl="1" marL="0" marR="0" rtl="0" algn="r">
              <a:spcBef>
                <a:spcPts val="0"/>
              </a:spcBef>
              <a:buNone/>
              <a:defRPr b="0" i="0" sz="900" u="none" cap="none" strike="noStrike">
                <a:solidFill>
                  <a:srgbClr val="3F3F3F"/>
                </a:solidFill>
                <a:latin typeface="Libre Franklin"/>
                <a:ea typeface="Libre Franklin"/>
                <a:cs typeface="Libre Franklin"/>
                <a:sym typeface="Libre Franklin"/>
              </a:defRPr>
            </a:lvl2pPr>
            <a:lvl3pPr indent="0" lvl="2" marL="0" marR="0" rtl="0" algn="r">
              <a:spcBef>
                <a:spcPts val="0"/>
              </a:spcBef>
              <a:buNone/>
              <a:defRPr b="0" i="0" sz="900" u="none" cap="none" strike="noStrike">
                <a:solidFill>
                  <a:srgbClr val="3F3F3F"/>
                </a:solidFill>
                <a:latin typeface="Libre Franklin"/>
                <a:ea typeface="Libre Franklin"/>
                <a:cs typeface="Libre Franklin"/>
                <a:sym typeface="Libre Franklin"/>
              </a:defRPr>
            </a:lvl3pPr>
            <a:lvl4pPr indent="0" lvl="3" marL="0" marR="0" rtl="0" algn="r">
              <a:spcBef>
                <a:spcPts val="0"/>
              </a:spcBef>
              <a:buNone/>
              <a:defRPr b="0" i="0" sz="900" u="none" cap="none" strike="noStrike">
                <a:solidFill>
                  <a:srgbClr val="3F3F3F"/>
                </a:solidFill>
                <a:latin typeface="Libre Franklin"/>
                <a:ea typeface="Libre Franklin"/>
                <a:cs typeface="Libre Franklin"/>
                <a:sym typeface="Libre Franklin"/>
              </a:defRPr>
            </a:lvl4pPr>
            <a:lvl5pPr indent="0" lvl="4" marL="0" marR="0" rtl="0" algn="r">
              <a:spcBef>
                <a:spcPts val="0"/>
              </a:spcBef>
              <a:buNone/>
              <a:defRPr b="0" i="0" sz="900" u="none" cap="none" strike="noStrike">
                <a:solidFill>
                  <a:srgbClr val="3F3F3F"/>
                </a:solidFill>
                <a:latin typeface="Libre Franklin"/>
                <a:ea typeface="Libre Franklin"/>
                <a:cs typeface="Libre Franklin"/>
                <a:sym typeface="Libre Franklin"/>
              </a:defRPr>
            </a:lvl5pPr>
            <a:lvl6pPr indent="0" lvl="5" marL="0" marR="0" rtl="0" algn="r">
              <a:spcBef>
                <a:spcPts val="0"/>
              </a:spcBef>
              <a:buNone/>
              <a:defRPr b="0" i="0" sz="900" u="none" cap="none" strike="noStrike">
                <a:solidFill>
                  <a:srgbClr val="3F3F3F"/>
                </a:solidFill>
                <a:latin typeface="Libre Franklin"/>
                <a:ea typeface="Libre Franklin"/>
                <a:cs typeface="Libre Franklin"/>
                <a:sym typeface="Libre Franklin"/>
              </a:defRPr>
            </a:lvl6pPr>
            <a:lvl7pPr indent="0" lvl="6" marL="0" marR="0" rtl="0" algn="r">
              <a:spcBef>
                <a:spcPts val="0"/>
              </a:spcBef>
              <a:buNone/>
              <a:defRPr b="0" i="0" sz="900" u="none" cap="none" strike="noStrike">
                <a:solidFill>
                  <a:srgbClr val="3F3F3F"/>
                </a:solidFill>
                <a:latin typeface="Libre Franklin"/>
                <a:ea typeface="Libre Franklin"/>
                <a:cs typeface="Libre Franklin"/>
                <a:sym typeface="Libre Franklin"/>
              </a:defRPr>
            </a:lvl7pPr>
            <a:lvl8pPr indent="0" lvl="7" marL="0" marR="0" rtl="0" algn="r">
              <a:spcBef>
                <a:spcPts val="0"/>
              </a:spcBef>
              <a:buNone/>
              <a:defRPr b="0" i="0" sz="900" u="none" cap="none" strike="noStrike">
                <a:solidFill>
                  <a:srgbClr val="3F3F3F"/>
                </a:solidFill>
                <a:latin typeface="Libre Franklin"/>
                <a:ea typeface="Libre Franklin"/>
                <a:cs typeface="Libre Franklin"/>
                <a:sym typeface="Libre Franklin"/>
              </a:defRPr>
            </a:lvl8pPr>
            <a:lvl9pPr indent="0" lvl="8" marL="0" marR="0" rtl="0" algn="r">
              <a:spcBef>
                <a:spcPts val="0"/>
              </a:spcBef>
              <a:buNone/>
              <a:defRPr b="0" i="0" sz="900" u="none" cap="none" strike="noStrike">
                <a:solidFill>
                  <a:srgbClr val="3F3F3F"/>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IN"/>
              <a:t>‹#›</a:t>
            </a:fld>
            <a:endParaRPr/>
          </a:p>
        </p:txBody>
      </p:sp>
      <p:sp>
        <p:nvSpPr>
          <p:cNvPr id="14" name="Google Shape;14;p1"/>
          <p:cNvSpPr/>
          <p:nvPr/>
        </p:nvSpPr>
        <p:spPr>
          <a:xfrm>
            <a:off x="446534" y="457200"/>
            <a:ext cx="3703320" cy="9499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
          <p:cNvSpPr/>
          <p:nvPr/>
        </p:nvSpPr>
        <p:spPr>
          <a:xfrm>
            <a:off x="8042147" y="453643"/>
            <a:ext cx="3703320" cy="98554"/>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10;&#10;Description automatically generated" id="17" name="Google Shape;17;p1"/>
          <p:cNvPicPr preferRelativeResize="0"/>
          <p:nvPr/>
        </p:nvPicPr>
        <p:blipFill rotWithShape="1">
          <a:blip r:embed="rId1">
            <a:alphaModFix/>
          </a:blip>
          <a:srcRect b="0" l="0" r="0" t="0"/>
          <a:stretch/>
        </p:blipFill>
        <p:spPr>
          <a:xfrm>
            <a:off x="10485003" y="6437910"/>
            <a:ext cx="1125805" cy="3651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github.com/Cathrinrabaca/PharmaGuard-AI-Explainable-AI-Based-Pharmacovigilance-.git" TargetMode="External"/><Relationship Id="rId4" Type="http://schemas.openxmlformats.org/officeDocument/2006/relationships/hyperlink" Target="https://aicte-batch1-resume-builder-fuurng7gntvmkafiuf6own.streamlit.app/" TargetMode="External"/><Relationship Id="rId5" Type="http://schemas.openxmlformats.org/officeDocument/2006/relationships/hyperlink" Target="https://o45ui9fsfwsltdd5saj5jf.streamlit.app/"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3"/>
          <p:cNvSpPr txBox="1"/>
          <p:nvPr>
            <p:ph type="ctrTitle"/>
          </p:nvPr>
        </p:nvSpPr>
        <p:spPr>
          <a:xfrm>
            <a:off x="1191775" y="1400875"/>
            <a:ext cx="10203300" cy="9828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0000"/>
              </a:lnSpc>
              <a:spcBef>
                <a:spcPts val="0"/>
              </a:spcBef>
              <a:spcAft>
                <a:spcPts val="0"/>
              </a:spcAft>
              <a:buClr>
                <a:srgbClr val="3F3F3F"/>
              </a:buClr>
              <a:buSzPct val="360000"/>
              <a:buFont typeface="Franklin Gothic"/>
              <a:buNone/>
            </a:pPr>
            <a:r>
              <a:rPr lang="en-IN" sz="1000">
                <a:solidFill>
                  <a:srgbClr val="BBBEBF"/>
                </a:solidFill>
                <a:highlight>
                  <a:srgbClr val="242526"/>
                </a:highlight>
                <a:latin typeface="Arial"/>
                <a:ea typeface="Arial"/>
                <a:cs typeface="Arial"/>
                <a:sym typeface="Arial"/>
              </a:rPr>
              <a:t>PharmaGuard AI</a:t>
            </a:r>
            <a:endParaRPr sz="1000">
              <a:solidFill>
                <a:srgbClr val="BBBEBF"/>
              </a:solidFill>
              <a:highlight>
                <a:srgbClr val="242526"/>
              </a:highlight>
              <a:latin typeface="Arial"/>
              <a:ea typeface="Arial"/>
              <a:cs typeface="Arial"/>
              <a:sym typeface="Arial"/>
            </a:endParaRPr>
          </a:p>
          <a:p>
            <a:pPr indent="0" lvl="0" marL="381000" marR="381000" rtl="0" algn="l">
              <a:lnSpc>
                <a:spcPct val="135000"/>
              </a:lnSpc>
              <a:spcBef>
                <a:spcPts val="0"/>
              </a:spcBef>
              <a:spcAft>
                <a:spcPts val="0"/>
              </a:spcAft>
              <a:buClr>
                <a:schemeClr val="dk1"/>
              </a:buClr>
              <a:buSzPct val="28286"/>
              <a:buFont typeface="Arial"/>
              <a:buNone/>
            </a:pPr>
            <a:r>
              <a:t/>
            </a:r>
            <a:endParaRPr sz="3889">
              <a:solidFill>
                <a:schemeClr val="dk1"/>
              </a:solidFill>
              <a:highlight>
                <a:schemeClr val="dk1"/>
              </a:highlight>
              <a:latin typeface="Arial"/>
              <a:ea typeface="Arial"/>
              <a:cs typeface="Arial"/>
              <a:sym typeface="Arial"/>
            </a:endParaRPr>
          </a:p>
          <a:p>
            <a:pPr indent="0" lvl="0" marL="0" rtl="0" algn="l">
              <a:lnSpc>
                <a:spcPct val="115000"/>
              </a:lnSpc>
              <a:spcBef>
                <a:spcPts val="0"/>
              </a:spcBef>
              <a:spcAft>
                <a:spcPts val="0"/>
              </a:spcAft>
              <a:buClr>
                <a:schemeClr val="dk1"/>
              </a:buClr>
              <a:buSzPct val="27577"/>
              <a:buFont typeface="Arial"/>
              <a:buNone/>
            </a:pPr>
            <a:r>
              <a:t/>
            </a:r>
            <a:endParaRPr sz="3989">
              <a:solidFill>
                <a:schemeClr val="dk1"/>
              </a:solidFill>
              <a:latin typeface="Arial"/>
              <a:ea typeface="Arial"/>
              <a:cs typeface="Arial"/>
              <a:sym typeface="Arial"/>
            </a:endParaRPr>
          </a:p>
          <a:p>
            <a:pPr indent="0" lvl="0" marL="381000" marR="381000" rtl="0" algn="l">
              <a:lnSpc>
                <a:spcPct val="135000"/>
              </a:lnSpc>
              <a:spcBef>
                <a:spcPts val="0"/>
              </a:spcBef>
              <a:spcAft>
                <a:spcPts val="0"/>
              </a:spcAft>
              <a:buClr>
                <a:schemeClr val="dk1"/>
              </a:buClr>
              <a:buSzPct val="38077"/>
              <a:buFont typeface="Arial"/>
              <a:buNone/>
            </a:pPr>
            <a:r>
              <a:rPr b="1" lang="en-IN" sz="2889">
                <a:solidFill>
                  <a:schemeClr val="dk1"/>
                </a:solidFill>
                <a:highlight>
                  <a:schemeClr val="lt1"/>
                </a:highlight>
                <a:latin typeface="Arial"/>
                <a:ea typeface="Arial"/>
                <a:cs typeface="Arial"/>
                <a:sym typeface="Arial"/>
              </a:rPr>
              <a:t>EXPLAINABLE AI-BASED PHARMACOVIGILANCE SIGNAL DETECTION &amp; ADVERSE EVENT RISK PRIORITIZATION </a:t>
            </a:r>
            <a:endParaRPr b="1" sz="2600">
              <a:solidFill>
                <a:schemeClr val="dk1"/>
              </a:solidFill>
              <a:highlight>
                <a:schemeClr val="lt1"/>
              </a:highlight>
              <a:latin typeface="Arial"/>
              <a:ea typeface="Arial"/>
              <a:cs typeface="Arial"/>
              <a:sym typeface="Arial"/>
            </a:endParaRPr>
          </a:p>
        </p:txBody>
      </p:sp>
      <p:sp>
        <p:nvSpPr>
          <p:cNvPr id="97" name="Google Shape;97;p13"/>
          <p:cNvSpPr txBox="1"/>
          <p:nvPr/>
        </p:nvSpPr>
        <p:spPr>
          <a:xfrm>
            <a:off x="104550" y="648175"/>
            <a:ext cx="130458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200">
                <a:solidFill>
                  <a:srgbClr val="1482AB"/>
                </a:solidFill>
              </a:rPr>
              <a:t>                               </a:t>
            </a:r>
            <a:r>
              <a:rPr b="1" i="0" lang="en-IN" sz="3200" u="none" cap="none" strike="noStrike">
                <a:solidFill>
                  <a:srgbClr val="1482AB"/>
                </a:solidFill>
                <a:latin typeface="Arial"/>
                <a:ea typeface="Arial"/>
                <a:cs typeface="Arial"/>
                <a:sym typeface="Arial"/>
              </a:rPr>
              <a:t>CAPSTONE PROJECT</a:t>
            </a:r>
            <a:endParaRPr b="1"/>
          </a:p>
        </p:txBody>
      </p:sp>
      <p:sp>
        <p:nvSpPr>
          <p:cNvPr id="98" name="Google Shape;98;p13"/>
          <p:cNvSpPr txBox="1"/>
          <p:nvPr/>
        </p:nvSpPr>
        <p:spPr>
          <a:xfrm>
            <a:off x="543625" y="3784450"/>
            <a:ext cx="11227800" cy="2401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3000" u="none" cap="none" strike="noStrike">
                <a:solidFill>
                  <a:srgbClr val="1482AB"/>
                </a:solidFill>
                <a:latin typeface="Arial"/>
                <a:ea typeface="Arial"/>
                <a:cs typeface="Arial"/>
                <a:sym typeface="Arial"/>
              </a:rPr>
              <a:t>Presented By:</a:t>
            </a:r>
            <a:endParaRPr sz="2400"/>
          </a:p>
          <a:p>
            <a:pPr indent="0" lvl="0" marL="0" marR="0" rtl="0" algn="l">
              <a:spcBef>
                <a:spcPts val="0"/>
              </a:spcBef>
              <a:spcAft>
                <a:spcPts val="0"/>
              </a:spcAft>
              <a:buNone/>
            </a:pPr>
            <a:r>
              <a:rPr b="1" lang="en-IN" sz="3000">
                <a:solidFill>
                  <a:srgbClr val="1482AB"/>
                </a:solidFill>
              </a:rPr>
              <a:t>1. </a:t>
            </a:r>
            <a:r>
              <a:rPr b="1" lang="en-IN" sz="3000">
                <a:solidFill>
                  <a:srgbClr val="1482AB"/>
                </a:solidFill>
                <a:latin typeface="Arial"/>
                <a:ea typeface="Arial"/>
                <a:cs typeface="Arial"/>
                <a:sym typeface="Arial"/>
              </a:rPr>
              <a:t>Student Name- </a:t>
            </a:r>
            <a:r>
              <a:rPr b="1" lang="en-IN" sz="3000">
                <a:solidFill>
                  <a:schemeClr val="dk1"/>
                </a:solidFill>
              </a:rPr>
              <a:t>Cathrin</a:t>
            </a:r>
            <a:r>
              <a:rPr b="1" lang="en-IN" sz="3000">
                <a:solidFill>
                  <a:schemeClr val="dk1"/>
                </a:solidFill>
                <a:latin typeface="Arial"/>
                <a:ea typeface="Arial"/>
                <a:cs typeface="Arial"/>
                <a:sym typeface="Arial"/>
              </a:rPr>
              <a:t> rabaca </a:t>
            </a:r>
            <a:endParaRPr sz="2400">
              <a:solidFill>
                <a:schemeClr val="dk1"/>
              </a:solidFill>
            </a:endParaRPr>
          </a:p>
          <a:p>
            <a:pPr indent="0" lvl="0" marL="0" marR="0" rtl="0" algn="l">
              <a:spcBef>
                <a:spcPts val="0"/>
              </a:spcBef>
              <a:spcAft>
                <a:spcPts val="0"/>
              </a:spcAft>
              <a:buNone/>
            </a:pPr>
            <a:r>
              <a:rPr b="1" lang="en-IN" sz="3000">
                <a:solidFill>
                  <a:srgbClr val="1482AB"/>
                </a:solidFill>
              </a:rPr>
              <a:t>2. </a:t>
            </a:r>
            <a:r>
              <a:rPr b="1" lang="en-IN" sz="3000">
                <a:solidFill>
                  <a:srgbClr val="1482AB"/>
                </a:solidFill>
                <a:latin typeface="Arial"/>
                <a:ea typeface="Arial"/>
                <a:cs typeface="Arial"/>
                <a:sym typeface="Arial"/>
              </a:rPr>
              <a:t>College Name-</a:t>
            </a:r>
            <a:r>
              <a:rPr b="1" lang="en-IN" sz="3000">
                <a:solidFill>
                  <a:schemeClr val="dk1"/>
                </a:solidFill>
              </a:rPr>
              <a:t>C</a:t>
            </a:r>
            <a:r>
              <a:rPr b="1" lang="en-IN" sz="3000">
                <a:solidFill>
                  <a:schemeClr val="dk1"/>
                </a:solidFill>
                <a:latin typeface="Arial"/>
                <a:ea typeface="Arial"/>
                <a:cs typeface="Arial"/>
                <a:sym typeface="Arial"/>
              </a:rPr>
              <a:t>her</a:t>
            </a:r>
            <a:r>
              <a:rPr b="1" lang="en-IN" sz="3000">
                <a:solidFill>
                  <a:schemeClr val="dk1"/>
                </a:solidFill>
              </a:rPr>
              <a:t>an college of pharmacy</a:t>
            </a:r>
            <a:endParaRPr sz="2400">
              <a:solidFill>
                <a:schemeClr val="dk1"/>
              </a:solidFill>
            </a:endParaRPr>
          </a:p>
          <a:p>
            <a:pPr indent="0" lvl="0" marL="0" marR="0" rtl="0" algn="l">
              <a:spcBef>
                <a:spcPts val="0"/>
              </a:spcBef>
              <a:spcAft>
                <a:spcPts val="0"/>
              </a:spcAft>
              <a:buNone/>
            </a:pPr>
            <a:r>
              <a:rPr b="1" lang="en-IN" sz="3000">
                <a:solidFill>
                  <a:srgbClr val="1482AB"/>
                </a:solidFill>
              </a:rPr>
              <a:t>3. </a:t>
            </a:r>
            <a:r>
              <a:rPr b="1" lang="en-IN" sz="3000">
                <a:solidFill>
                  <a:srgbClr val="1482AB"/>
                </a:solidFill>
                <a:latin typeface="Arial"/>
                <a:ea typeface="Arial"/>
                <a:cs typeface="Arial"/>
                <a:sym typeface="Arial"/>
              </a:rPr>
              <a:t>Department- </a:t>
            </a:r>
            <a:r>
              <a:rPr b="1" lang="en-IN" sz="3000">
                <a:solidFill>
                  <a:schemeClr val="dk1"/>
                </a:solidFill>
              </a:rPr>
              <a:t>B</a:t>
            </a:r>
            <a:r>
              <a:rPr b="1" lang="en-IN" sz="3000">
                <a:solidFill>
                  <a:schemeClr val="dk1"/>
                </a:solidFill>
                <a:latin typeface="Arial"/>
                <a:ea typeface="Arial"/>
                <a:cs typeface="Arial"/>
                <a:sym typeface="Arial"/>
              </a:rPr>
              <a:t>achelor o</a:t>
            </a:r>
            <a:r>
              <a:rPr b="1" lang="en-IN" sz="3000">
                <a:solidFill>
                  <a:schemeClr val="dk1"/>
                </a:solidFill>
              </a:rPr>
              <a:t>f pharmacy</a:t>
            </a:r>
            <a:endParaRPr sz="2400">
              <a:solidFill>
                <a:schemeClr val="dk1"/>
              </a:solidFill>
            </a:endParaRPr>
          </a:p>
          <a:p>
            <a:pPr indent="0" lvl="0" marL="0" marR="0" rtl="0" algn="l">
              <a:spcBef>
                <a:spcPts val="0"/>
              </a:spcBef>
              <a:spcAft>
                <a:spcPts val="0"/>
              </a:spcAft>
              <a:buNone/>
            </a:pPr>
            <a:r>
              <a:rPr b="1" lang="en-IN" sz="3000">
                <a:solidFill>
                  <a:srgbClr val="1482AB"/>
                </a:solidFill>
              </a:rPr>
              <a:t>4. </a:t>
            </a:r>
            <a:r>
              <a:rPr b="1" lang="en-IN" sz="3000">
                <a:solidFill>
                  <a:srgbClr val="1482AB"/>
                </a:solidFill>
                <a:latin typeface="Arial"/>
                <a:ea typeface="Arial"/>
                <a:cs typeface="Arial"/>
                <a:sym typeface="Arial"/>
              </a:rPr>
              <a:t>AICTE ID-</a:t>
            </a:r>
            <a:r>
              <a:rPr b="1" lang="en-IN" sz="3000">
                <a:solidFill>
                  <a:schemeClr val="dk1"/>
                </a:solidFill>
                <a:latin typeface="Arial"/>
                <a:ea typeface="Arial"/>
                <a:cs typeface="Arial"/>
                <a:sym typeface="Arial"/>
              </a:rPr>
              <a:t>STU6a2ce4e50bb6f1781327077 </a:t>
            </a:r>
            <a:endParaRPr sz="24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4"/>
          <p:cNvSpPr txBox="1"/>
          <p:nvPr>
            <p:ph type="title"/>
          </p:nvPr>
        </p:nvSpPr>
        <p:spPr>
          <a:xfrm>
            <a:off x="849573" y="558468"/>
            <a:ext cx="10515600" cy="1325563"/>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002060"/>
              </a:buClr>
              <a:buSzPts val="2800"/>
              <a:buFont typeface="Arial"/>
              <a:buNone/>
            </a:pPr>
            <a:r>
              <a:rPr b="1" lang="en-IN">
                <a:solidFill>
                  <a:srgbClr val="002060"/>
                </a:solidFill>
                <a:latin typeface="Arial"/>
                <a:ea typeface="Arial"/>
                <a:cs typeface="Arial"/>
                <a:sym typeface="Arial"/>
              </a:rPr>
              <a:t>OUTLINE</a:t>
            </a:r>
            <a:endParaRPr/>
          </a:p>
        </p:txBody>
      </p:sp>
      <p:sp>
        <p:nvSpPr>
          <p:cNvPr id="104" name="Google Shape;104;p14"/>
          <p:cNvSpPr txBox="1"/>
          <p:nvPr>
            <p:ph idx="1" type="body"/>
          </p:nvPr>
        </p:nvSpPr>
        <p:spPr>
          <a:xfrm>
            <a:off x="838200" y="1618938"/>
            <a:ext cx="11019020" cy="5239062"/>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SzPts val="1840"/>
              <a:buNone/>
            </a:pPr>
            <a:r>
              <a:rPr b="1" lang="en-IN" sz="2000">
                <a:latin typeface="Arial"/>
                <a:ea typeface="Arial"/>
                <a:cs typeface="Arial"/>
                <a:sym typeface="Arial"/>
              </a:rPr>
              <a:t>  </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Problem Statement </a:t>
            </a:r>
            <a:r>
              <a:rPr lang="en-IN" sz="2000">
                <a:latin typeface="Arial"/>
                <a:ea typeface="Arial"/>
                <a:cs typeface="Arial"/>
                <a:sym typeface="Arial"/>
              </a:rPr>
              <a:t>(Should not include solution)</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Proposed System/Solution</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System Development Approach </a:t>
            </a:r>
            <a:r>
              <a:rPr lang="en-IN" sz="2000">
                <a:latin typeface="Arial"/>
                <a:ea typeface="Arial"/>
                <a:cs typeface="Arial"/>
                <a:sym typeface="Arial"/>
              </a:rPr>
              <a:t>(Technology Used) </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Algorithm &amp; Deployment  </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Result</a:t>
            </a:r>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Conclusion</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Future Scope</a:t>
            </a:r>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References</a:t>
            </a:r>
            <a:endParaRPr>
              <a:latin typeface="Arial"/>
              <a:ea typeface="Arial"/>
              <a:cs typeface="Arial"/>
              <a:sym typeface="Arial"/>
            </a:endParaRPr>
          </a:p>
          <a:p>
            <a:pPr indent="-206686" lvl="0" marL="306000" rtl="0" algn="l">
              <a:lnSpc>
                <a:spcPct val="110000"/>
              </a:lnSpc>
              <a:spcBef>
                <a:spcPts val="940"/>
              </a:spcBef>
              <a:spcAft>
                <a:spcPts val="0"/>
              </a:spcAft>
              <a:buSzPts val="1564"/>
              <a:buNone/>
            </a:pPr>
            <a:r>
              <a:t/>
            </a: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5"/>
          <p:cNvSpPr txBox="1"/>
          <p:nvPr>
            <p:ph type="title"/>
          </p:nvPr>
        </p:nvSpPr>
        <p:spPr>
          <a:xfrm>
            <a:off x="452400" y="702150"/>
            <a:ext cx="11158500" cy="530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PROBLEM STATEMENT</a:t>
            </a:r>
            <a:endParaRPr sz="4400"/>
          </a:p>
        </p:txBody>
      </p:sp>
      <p:sp>
        <p:nvSpPr>
          <p:cNvPr id="110" name="Google Shape;110;p15"/>
          <p:cNvSpPr txBox="1"/>
          <p:nvPr>
            <p:ph idx="1" type="body"/>
          </p:nvPr>
        </p:nvSpPr>
        <p:spPr>
          <a:xfrm>
            <a:off x="452403" y="1237632"/>
            <a:ext cx="11029615" cy="4673324"/>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SzPts val="1564"/>
              <a:buNone/>
            </a:pPr>
            <a:r>
              <a:rPr lang="en-IN" sz="2600">
                <a:solidFill>
                  <a:schemeClr val="dk1"/>
                </a:solidFill>
              </a:rPr>
              <a:t>Adverse Drug Event (ADE) reports pile up in FDA's FAERS database by the hundreds of thousands every year, but review of these reports for fatality risk is still largely manual and reactive. Pharmacovigilance teams cannot easily prioritize which incoming case reports carry a genuinely high risk of a fatal outcome among thousands of reports. Existing dashboards typically show only raw report counts, not a calibrated risk score or the reasons behind it. There is no single accessible tool that combines fatality-risk prediction with a plain-language explanation of "why" a case is risky, alongside drug-reaction signal detection. </a:t>
            </a:r>
            <a:endParaRPr sz="26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6"/>
          <p:cNvSpPr txBox="1"/>
          <p:nvPr>
            <p:ph type="title"/>
          </p:nvPr>
        </p:nvSpPr>
        <p:spPr>
          <a:xfrm>
            <a:off x="391450" y="439075"/>
            <a:ext cx="11652000" cy="6690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PROPOSED SOLUTION</a:t>
            </a:r>
            <a:endParaRPr sz="4400"/>
          </a:p>
        </p:txBody>
      </p:sp>
      <p:sp>
        <p:nvSpPr>
          <p:cNvPr id="116" name="Google Shape;116;p16"/>
          <p:cNvSpPr txBox="1"/>
          <p:nvPr>
            <p:ph idx="1" type="body"/>
          </p:nvPr>
        </p:nvSpPr>
        <p:spPr>
          <a:xfrm>
            <a:off x="391450" y="986900"/>
            <a:ext cx="11800500" cy="5745600"/>
          </a:xfrm>
          <a:prstGeom prst="rect">
            <a:avLst/>
          </a:prstGeom>
          <a:noFill/>
          <a:ln>
            <a:noFill/>
          </a:ln>
        </p:spPr>
        <p:txBody>
          <a:bodyPr anchorCtr="0" anchor="ctr" bIns="45700" lIns="91425" spcFirstLastPara="1" rIns="91425" wrap="square" tIns="45700">
            <a:noAutofit/>
          </a:bodyPr>
          <a:lstStyle/>
          <a:p>
            <a:pPr indent="-352806" lvl="0" marL="457200" rtl="0" algn="l">
              <a:lnSpc>
                <a:spcPct val="115000"/>
              </a:lnSpc>
              <a:spcBef>
                <a:spcPts val="0"/>
              </a:spcBef>
              <a:spcAft>
                <a:spcPts val="0"/>
              </a:spcAft>
              <a:buSzPts val="1956"/>
              <a:buFont typeface="Calibri"/>
              <a:buChar char="■"/>
            </a:pPr>
            <a:r>
              <a:rPr lang="en-IN" sz="2000">
                <a:solidFill>
                  <a:srgbClr val="0F0F0F"/>
                </a:solidFill>
                <a:latin typeface="Calibri"/>
                <a:ea typeface="Calibri"/>
                <a:cs typeface="Calibri"/>
                <a:sym typeface="Calibri"/>
              </a:rPr>
              <a:t>PharmaGuard AI is an explainable pharmacovigilance assistant that predicts the fatality risk of an adverse drug event report and explains the prediction in plain language, turning raw FAERS data into actionable safety insight. It consists of:</a:t>
            </a:r>
            <a:endParaRPr sz="2000">
              <a:solidFill>
                <a:srgbClr val="0F0F0F"/>
              </a:solidFill>
              <a:latin typeface="Calibri"/>
              <a:ea typeface="Calibri"/>
              <a:cs typeface="Calibri"/>
              <a:sym typeface="Calibri"/>
            </a:endParaRPr>
          </a:p>
          <a:p>
            <a:pPr indent="-352806" lvl="0" marL="457200" rtl="0" algn="l">
              <a:lnSpc>
                <a:spcPct val="115000"/>
              </a:lnSpc>
              <a:spcBef>
                <a:spcPts val="0"/>
              </a:spcBef>
              <a:spcAft>
                <a:spcPts val="0"/>
              </a:spcAft>
              <a:buSzPts val="1956"/>
              <a:buFont typeface="Calibri"/>
              <a:buChar char="■"/>
            </a:pPr>
            <a:r>
              <a:rPr lang="en-IN" sz="2000">
                <a:solidFill>
                  <a:srgbClr val="0F0F0F"/>
                </a:solidFill>
                <a:latin typeface="Calibri"/>
                <a:ea typeface="Calibri"/>
                <a:cs typeface="Calibri"/>
                <a:sym typeface="Calibri"/>
              </a:rPr>
              <a:t>Data Source: FDA FAERS historical data, 2015–2026 (528,000+ reports), covering patient demographics, drug counts, reaction counts, and report metadata.</a:t>
            </a:r>
            <a:endParaRPr sz="2000">
              <a:solidFill>
                <a:srgbClr val="0F0F0F"/>
              </a:solidFill>
              <a:latin typeface="Calibri"/>
              <a:ea typeface="Calibri"/>
              <a:cs typeface="Calibri"/>
              <a:sym typeface="Calibri"/>
            </a:endParaRPr>
          </a:p>
          <a:p>
            <a:pPr indent="-352806" lvl="0" marL="457200" rtl="0" algn="l">
              <a:lnSpc>
                <a:spcPct val="115000"/>
              </a:lnSpc>
              <a:spcBef>
                <a:spcPts val="0"/>
              </a:spcBef>
              <a:spcAft>
                <a:spcPts val="0"/>
              </a:spcAft>
              <a:buSzPts val="1956"/>
              <a:buFont typeface="Calibri"/>
              <a:buChar char="■"/>
            </a:pPr>
            <a:r>
              <a:rPr lang="en-IN" sz="2000">
                <a:solidFill>
                  <a:srgbClr val="0F0F0F"/>
                </a:solidFill>
                <a:latin typeface="Calibri"/>
                <a:ea typeface="Calibri"/>
                <a:cs typeface="Calibri"/>
                <a:sym typeface="Calibri"/>
              </a:rPr>
              <a:t>Risk Prediction Model: A RandomForest classifier predicts Fatal vs Non-Fatal outcome probability and assigns a Risk Level and Severity Tier for every report.</a:t>
            </a:r>
            <a:endParaRPr sz="2000">
              <a:solidFill>
                <a:srgbClr val="0F0F0F"/>
              </a:solidFill>
              <a:latin typeface="Calibri"/>
              <a:ea typeface="Calibri"/>
              <a:cs typeface="Calibri"/>
              <a:sym typeface="Calibri"/>
            </a:endParaRPr>
          </a:p>
          <a:p>
            <a:pPr indent="-352806" lvl="0" marL="457200" rtl="0" algn="l">
              <a:lnSpc>
                <a:spcPct val="115000"/>
              </a:lnSpc>
              <a:spcBef>
                <a:spcPts val="0"/>
              </a:spcBef>
              <a:spcAft>
                <a:spcPts val="0"/>
              </a:spcAft>
              <a:buSzPts val="1956"/>
              <a:buFont typeface="Calibri"/>
              <a:buChar char="■"/>
            </a:pPr>
            <a:r>
              <a:rPr lang="en-IN" sz="2000">
                <a:solidFill>
                  <a:srgbClr val="0F0F0F"/>
                </a:solidFill>
                <a:latin typeface="Calibri"/>
                <a:ea typeface="Calibri"/>
                <a:cs typeface="Calibri"/>
                <a:sym typeface="Calibri"/>
              </a:rPr>
              <a:t>Explainability Engine: SHAP values show exactly which features pushed fatal risk up or down for each case, with a plain-English summary.</a:t>
            </a:r>
            <a:endParaRPr sz="2000">
              <a:solidFill>
                <a:srgbClr val="0F0F0F"/>
              </a:solidFill>
              <a:latin typeface="Calibri"/>
              <a:ea typeface="Calibri"/>
              <a:cs typeface="Calibri"/>
              <a:sym typeface="Calibri"/>
            </a:endParaRPr>
          </a:p>
          <a:p>
            <a:pPr indent="-352806" lvl="0" marL="457200" rtl="0" algn="l">
              <a:lnSpc>
                <a:spcPct val="115000"/>
              </a:lnSpc>
              <a:spcBef>
                <a:spcPts val="0"/>
              </a:spcBef>
              <a:spcAft>
                <a:spcPts val="0"/>
              </a:spcAft>
              <a:buSzPts val="1956"/>
              <a:buFont typeface="Calibri"/>
              <a:buChar char="■"/>
            </a:pPr>
            <a:r>
              <a:rPr lang="en-IN" sz="2000">
                <a:solidFill>
                  <a:srgbClr val="0F0F0F"/>
                </a:solidFill>
                <a:latin typeface="Calibri"/>
                <a:ea typeface="Calibri"/>
                <a:cs typeface="Calibri"/>
                <a:sym typeface="Calibri"/>
              </a:rPr>
              <a:t>Signal Detection: A PRR/ROR table flags over 20,000 statistically unusual drug–reaction combinations from real FAERS data.</a:t>
            </a:r>
            <a:endParaRPr sz="2000">
              <a:solidFill>
                <a:srgbClr val="0F0F0F"/>
              </a:solidFill>
              <a:latin typeface="Calibri"/>
              <a:ea typeface="Calibri"/>
              <a:cs typeface="Calibri"/>
              <a:sym typeface="Calibri"/>
            </a:endParaRPr>
          </a:p>
          <a:p>
            <a:pPr indent="-352806" lvl="0" marL="457200" rtl="0" algn="l">
              <a:lnSpc>
                <a:spcPct val="115000"/>
              </a:lnSpc>
              <a:spcBef>
                <a:spcPts val="0"/>
              </a:spcBef>
              <a:spcAft>
                <a:spcPts val="0"/>
              </a:spcAft>
              <a:buSzPts val="1956"/>
              <a:buFont typeface="Calibri"/>
              <a:buChar char="■"/>
            </a:pPr>
            <a:r>
              <a:rPr lang="en-IN" sz="2000">
                <a:solidFill>
                  <a:srgbClr val="0F0F0F"/>
                </a:solidFill>
                <a:latin typeface="Calibri"/>
                <a:ea typeface="Calibri"/>
                <a:cs typeface="Calibri"/>
                <a:sym typeface="Calibri"/>
              </a:rPr>
              <a:t>Risk Heatmap: Visualizes fatal rate across Age Group × Drug-Count, exposing high-risk patient segments at a glance.</a:t>
            </a:r>
            <a:endParaRPr sz="2000">
              <a:solidFill>
                <a:srgbClr val="0F0F0F"/>
              </a:solidFill>
              <a:latin typeface="Calibri"/>
              <a:ea typeface="Calibri"/>
              <a:cs typeface="Calibri"/>
              <a:sym typeface="Calibri"/>
            </a:endParaRPr>
          </a:p>
          <a:p>
            <a:pPr indent="-352806" lvl="0" marL="457200" rtl="0" algn="l">
              <a:lnSpc>
                <a:spcPct val="115000"/>
              </a:lnSpc>
              <a:spcBef>
                <a:spcPts val="0"/>
              </a:spcBef>
              <a:spcAft>
                <a:spcPts val="0"/>
              </a:spcAft>
              <a:buSzPts val="1956"/>
              <a:buFont typeface="Calibri"/>
              <a:buChar char="■"/>
            </a:pPr>
            <a:r>
              <a:rPr lang="en-IN" sz="2000">
                <a:solidFill>
                  <a:srgbClr val="0F0F0F"/>
                </a:solidFill>
                <a:latin typeface="Calibri"/>
                <a:ea typeface="Calibri"/>
                <a:cs typeface="Calibri"/>
                <a:sym typeface="Calibri"/>
              </a:rPr>
              <a:t>Deployment: A Streamlit web app with Overview, Predict Risk, Signal Detection, and Risk Heatmap tabs, deployable free via GitHub + Streamlit Community Cloud, with a downloadable PDF report for every prediction.</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7"/>
          <p:cNvSpPr txBox="1"/>
          <p:nvPr>
            <p:ph type="title"/>
          </p:nvPr>
        </p:nvSpPr>
        <p:spPr>
          <a:xfrm>
            <a:off x="581192" y="662572"/>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SYSTEM  APPROACH</a:t>
            </a:r>
            <a:endParaRPr sz="4400">
              <a:solidFill>
                <a:schemeClr val="accent1"/>
              </a:solidFill>
              <a:latin typeface="Calibri"/>
              <a:ea typeface="Calibri"/>
              <a:cs typeface="Calibri"/>
              <a:sym typeface="Calibri"/>
            </a:endParaRPr>
          </a:p>
        </p:txBody>
      </p:sp>
      <p:sp>
        <p:nvSpPr>
          <p:cNvPr id="122" name="Google Shape;122;p17"/>
          <p:cNvSpPr txBox="1"/>
          <p:nvPr>
            <p:ph idx="1" type="body"/>
          </p:nvPr>
        </p:nvSpPr>
        <p:spPr>
          <a:xfrm>
            <a:off x="581192" y="1302026"/>
            <a:ext cx="11029615" cy="4673324"/>
          </a:xfrm>
          <a:prstGeom prst="rect">
            <a:avLst/>
          </a:prstGeom>
          <a:noFill/>
          <a:ln>
            <a:noFill/>
          </a:ln>
        </p:spPr>
        <p:txBody>
          <a:bodyPr anchorCtr="0" anchor="ctr" bIns="45700" lIns="91425" spcFirstLastPara="1" rIns="91425" wrap="square" tIns="45700">
            <a:normAutofit lnSpcReduction="10000"/>
          </a:bodyPr>
          <a:lstStyle/>
          <a:p>
            <a:pPr indent="-400050" lvl="0" marL="457200" rtl="0" algn="l">
              <a:lnSpc>
                <a:spcPct val="110000"/>
              </a:lnSpc>
              <a:spcBef>
                <a:spcPts val="0"/>
              </a:spcBef>
              <a:spcAft>
                <a:spcPts val="0"/>
              </a:spcAft>
              <a:buSzPts val="2700"/>
              <a:buChar char="■"/>
            </a:pPr>
            <a:r>
              <a:rPr b="1" lang="en-IN" sz="2700">
                <a:solidFill>
                  <a:srgbClr val="000000"/>
                </a:solidFill>
              </a:rPr>
              <a:t>System requirements</a:t>
            </a:r>
            <a:r>
              <a:rPr b="1" lang="en-IN" sz="2700">
                <a:solidFill>
                  <a:srgbClr val="000000"/>
                </a:solidFill>
              </a:rPr>
              <a:t>:</a:t>
            </a:r>
            <a:endParaRPr b="1" sz="2800">
              <a:solidFill>
                <a:srgbClr val="000000"/>
              </a:solidFill>
            </a:endParaRPr>
          </a:p>
          <a:p>
            <a:pPr indent="-400050" lvl="0" marL="457200" rtl="0" algn="l">
              <a:lnSpc>
                <a:spcPct val="110000"/>
              </a:lnSpc>
              <a:spcBef>
                <a:spcPts val="0"/>
              </a:spcBef>
              <a:spcAft>
                <a:spcPts val="0"/>
              </a:spcAft>
              <a:buSzPts val="2700"/>
              <a:buChar char="■"/>
            </a:pPr>
            <a:r>
              <a:rPr lang="en-IN" sz="2700">
                <a:solidFill>
                  <a:srgbClr val="000000"/>
                </a:solidFill>
              </a:rPr>
              <a:t> </a:t>
            </a:r>
            <a:r>
              <a:rPr lang="en-IN" sz="3000">
                <a:solidFill>
                  <a:srgbClr val="000000"/>
                </a:solidFill>
                <a:latin typeface="Arial"/>
                <a:ea typeface="Arial"/>
                <a:cs typeface="Arial"/>
                <a:sym typeface="Arial"/>
              </a:rPr>
              <a:t>Python 3.x runtime environment</a:t>
            </a:r>
            <a:endParaRPr sz="3000">
              <a:solidFill>
                <a:srgbClr val="000000"/>
              </a:solidFill>
              <a:latin typeface="Arial"/>
              <a:ea typeface="Arial"/>
              <a:cs typeface="Arial"/>
              <a:sym typeface="Arial"/>
            </a:endParaRPr>
          </a:p>
          <a:p>
            <a:pPr indent="-419100" lvl="0" marL="457200" rtl="0" algn="l">
              <a:spcBef>
                <a:spcPts val="0"/>
              </a:spcBef>
              <a:spcAft>
                <a:spcPts val="0"/>
              </a:spcAft>
              <a:buSzPts val="3000"/>
              <a:buFont typeface="Arial"/>
              <a:buChar char="■"/>
            </a:pPr>
            <a:r>
              <a:rPr lang="en-IN" sz="3000">
                <a:solidFill>
                  <a:srgbClr val="000000"/>
                </a:solidFill>
                <a:latin typeface="Arial"/>
                <a:ea typeface="Arial"/>
                <a:cs typeface="Arial"/>
                <a:sym typeface="Arial"/>
              </a:rPr>
              <a:t>Historical FAERS data (2015–2026) for training the model</a:t>
            </a:r>
            <a:endParaRPr sz="3000">
              <a:solidFill>
                <a:srgbClr val="000000"/>
              </a:solidFill>
              <a:latin typeface="Arial"/>
              <a:ea typeface="Arial"/>
              <a:cs typeface="Arial"/>
              <a:sym typeface="Arial"/>
            </a:endParaRPr>
          </a:p>
          <a:p>
            <a:pPr indent="-419100" lvl="0" marL="457200" rtl="0" algn="l">
              <a:spcBef>
                <a:spcPts val="0"/>
              </a:spcBef>
              <a:spcAft>
                <a:spcPts val="0"/>
              </a:spcAft>
              <a:buSzPts val="3000"/>
              <a:buFont typeface="Arial"/>
              <a:buChar char="■"/>
            </a:pPr>
            <a:r>
              <a:rPr lang="en-IN" sz="3000">
                <a:solidFill>
                  <a:srgbClr val="000000"/>
                </a:solidFill>
                <a:latin typeface="Arial"/>
                <a:ea typeface="Arial"/>
                <a:cs typeface="Arial"/>
                <a:sym typeface="Arial"/>
              </a:rPr>
              <a:t>Minimum 8 GB RAM (for training RandomForest on 500k+ records)</a:t>
            </a:r>
            <a:endParaRPr sz="3000">
              <a:solidFill>
                <a:srgbClr val="000000"/>
              </a:solidFill>
              <a:latin typeface="Arial"/>
              <a:ea typeface="Arial"/>
              <a:cs typeface="Arial"/>
              <a:sym typeface="Arial"/>
            </a:endParaRPr>
          </a:p>
          <a:p>
            <a:pPr indent="-419100" lvl="0" marL="457200" rtl="0" algn="l">
              <a:spcBef>
                <a:spcPts val="0"/>
              </a:spcBef>
              <a:spcAft>
                <a:spcPts val="0"/>
              </a:spcAft>
              <a:buSzPts val="3000"/>
              <a:buFont typeface="Arial"/>
              <a:buChar char="■"/>
            </a:pPr>
            <a:r>
              <a:rPr lang="en-IN" sz="3000">
                <a:solidFill>
                  <a:srgbClr val="000000"/>
                </a:solidFill>
                <a:latin typeface="Arial"/>
                <a:ea typeface="Arial"/>
                <a:cs typeface="Arial"/>
                <a:sym typeface="Arial"/>
              </a:rPr>
              <a:t>Web browser (Chrome/Edge) to access the Streamlit interface</a:t>
            </a:r>
            <a:endParaRPr sz="3000">
              <a:solidFill>
                <a:srgbClr val="000000"/>
              </a:solidFill>
              <a:latin typeface="Arial"/>
              <a:ea typeface="Arial"/>
              <a:cs typeface="Arial"/>
              <a:sym typeface="Arial"/>
            </a:endParaRPr>
          </a:p>
          <a:p>
            <a:pPr indent="-419100" lvl="0" marL="457200" rtl="0" algn="l">
              <a:spcBef>
                <a:spcPts val="0"/>
              </a:spcBef>
              <a:spcAft>
                <a:spcPts val="0"/>
              </a:spcAft>
              <a:buSzPts val="3000"/>
              <a:buFont typeface="Arial"/>
              <a:buChar char="■"/>
            </a:pPr>
            <a:r>
              <a:rPr lang="en-IN" sz="3000">
                <a:solidFill>
                  <a:srgbClr val="000000"/>
                </a:solidFill>
                <a:latin typeface="Arial"/>
                <a:ea typeface="Arial"/>
                <a:cs typeface="Arial"/>
                <a:sym typeface="Arial"/>
              </a:rPr>
              <a:t>Internet connection for cloud deployment and model updates</a:t>
            </a:r>
            <a:endParaRPr sz="3000">
              <a:solidFill>
                <a:srgbClr val="000000"/>
              </a:solidFill>
              <a:latin typeface="Arial"/>
              <a:ea typeface="Arial"/>
              <a:cs typeface="Arial"/>
              <a:sym typeface="Arial"/>
            </a:endParaRPr>
          </a:p>
          <a:p>
            <a:pPr indent="-419100" lvl="0" marL="457200" rtl="0" algn="l">
              <a:spcBef>
                <a:spcPts val="0"/>
              </a:spcBef>
              <a:spcAft>
                <a:spcPts val="0"/>
              </a:spcAft>
              <a:buSzPts val="3000"/>
              <a:buFont typeface="Arial"/>
              <a:buChar char="■"/>
            </a:pPr>
            <a:r>
              <a:rPr lang="en-IN" sz="3000">
                <a:solidFill>
                  <a:srgbClr val="000000"/>
                </a:solidFill>
                <a:latin typeface="Arial"/>
                <a:ea typeface="Arial"/>
                <a:cs typeface="Arial"/>
                <a:sym typeface="Arial"/>
              </a:rPr>
              <a:t>Windows/Mac/Linux OS — cross-platform compatible</a:t>
            </a:r>
            <a:endParaRPr sz="3000">
              <a:solidFill>
                <a:srgbClr val="000000"/>
              </a:solidFill>
              <a:latin typeface="Arial"/>
              <a:ea typeface="Arial"/>
              <a:cs typeface="Arial"/>
              <a:sym typeface="Arial"/>
            </a:endParaRPr>
          </a:p>
          <a:p>
            <a:pPr indent="0" lvl="0" marL="457200" rtl="0" algn="l">
              <a:lnSpc>
                <a:spcPct val="110000"/>
              </a:lnSpc>
              <a:spcBef>
                <a:spcPts val="0"/>
              </a:spcBef>
              <a:spcAft>
                <a:spcPts val="0"/>
              </a:spcAft>
              <a:buNone/>
            </a:pPr>
            <a:r>
              <a:t/>
            </a:r>
            <a:endParaRPr sz="27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ALGORITHM &amp; DEPLOYMENT</a:t>
            </a:r>
            <a:endParaRPr/>
          </a:p>
        </p:txBody>
      </p:sp>
      <p:sp>
        <p:nvSpPr>
          <p:cNvPr id="128" name="Google Shape;128;p18"/>
          <p:cNvSpPr txBox="1"/>
          <p:nvPr>
            <p:ph idx="1" type="body"/>
          </p:nvPr>
        </p:nvSpPr>
        <p:spPr>
          <a:xfrm>
            <a:off x="581200" y="1302025"/>
            <a:ext cx="11420400" cy="5179500"/>
          </a:xfrm>
          <a:prstGeom prst="rect">
            <a:avLst/>
          </a:prstGeom>
          <a:noFill/>
          <a:ln>
            <a:noFill/>
          </a:ln>
        </p:spPr>
        <p:txBody>
          <a:bodyPr anchorCtr="0" anchor="ctr" bIns="45700" lIns="91425" spcFirstLastPara="1" rIns="91425" wrap="square" tIns="45700">
            <a:noAutofit/>
          </a:bodyPr>
          <a:lstStyle/>
          <a:p>
            <a:pPr indent="-337185" lvl="0" marL="305435" rtl="0" algn="l">
              <a:lnSpc>
                <a:spcPct val="110000"/>
              </a:lnSpc>
              <a:spcBef>
                <a:spcPts val="0"/>
              </a:spcBef>
              <a:spcAft>
                <a:spcPts val="0"/>
              </a:spcAft>
              <a:buSzPts val="1788"/>
              <a:buChar char="◼"/>
            </a:pPr>
            <a:r>
              <a:rPr lang="en-IN" sz="1900">
                <a:solidFill>
                  <a:schemeClr val="dk1"/>
                </a:solidFill>
              </a:rPr>
              <a:t>Algorithm Selection: Three models were benchmarked with 5-fold cross-validation — Logistic Regression (0.7499 ROC-AUC), Gradient Boosting (0.8118), and RandomForest (0.8128, lowest variance). RandomForest was selected for its best balance of accuracy, stability, and native compatibility with SHAP's TreeExplainer.</a:t>
            </a:r>
            <a:endParaRPr sz="2000">
              <a:solidFill>
                <a:schemeClr val="dk1"/>
              </a:solidFill>
            </a:endParaRPr>
          </a:p>
          <a:p>
            <a:pPr indent="-314382" lvl="0" marL="306000" rtl="0" algn="l">
              <a:lnSpc>
                <a:spcPct val="115000"/>
              </a:lnSpc>
              <a:spcBef>
                <a:spcPts val="0"/>
              </a:spcBef>
              <a:spcAft>
                <a:spcPts val="0"/>
              </a:spcAft>
              <a:buSzPts val="1788"/>
              <a:buChar char="◼"/>
            </a:pPr>
            <a:r>
              <a:rPr lang="en-IN" sz="1900">
                <a:solidFill>
                  <a:schemeClr val="dk1"/>
                </a:solidFill>
              </a:rPr>
              <a:t>Data Input: 12 features per report — num_reactions, num_drugs, patient_age_years, patient_weight_kg, report_age_days, month, year, age_group, patient_sex, drug_count_category, country, and seriousness flag.</a:t>
            </a:r>
            <a:endParaRPr sz="1900">
              <a:solidFill>
                <a:schemeClr val="dk1"/>
              </a:solidFill>
            </a:endParaRPr>
          </a:p>
          <a:p>
            <a:pPr indent="-314382" lvl="0" marL="306000" rtl="0" algn="l">
              <a:lnSpc>
                <a:spcPct val="115000"/>
              </a:lnSpc>
              <a:spcBef>
                <a:spcPts val="0"/>
              </a:spcBef>
              <a:spcAft>
                <a:spcPts val="0"/>
              </a:spcAft>
              <a:buSzPts val="1788"/>
              <a:buChar char="◼"/>
            </a:pPr>
            <a:r>
              <a:rPr lang="en-IN" sz="1900">
                <a:solidFill>
                  <a:schemeClr val="dk1"/>
                </a:solidFill>
              </a:rPr>
              <a:t>Training Process: Trained on FAERS reports (2015–2026) with a train/test split, then serialized with joblib for reuse in the app.</a:t>
            </a:r>
            <a:endParaRPr sz="1900">
              <a:solidFill>
                <a:schemeClr val="dk1"/>
              </a:solidFill>
            </a:endParaRPr>
          </a:p>
          <a:p>
            <a:pPr indent="-314382" lvl="0" marL="306000" rtl="0" algn="l">
              <a:lnSpc>
                <a:spcPct val="115000"/>
              </a:lnSpc>
              <a:spcBef>
                <a:spcPts val="0"/>
              </a:spcBef>
              <a:spcAft>
                <a:spcPts val="0"/>
              </a:spcAft>
              <a:buSzPts val="1788"/>
              <a:buChar char="◼"/>
            </a:pPr>
            <a:r>
              <a:rPr lang="en-IN" sz="1900">
                <a:solidFill>
                  <a:schemeClr val="dk1"/>
                </a:solidFill>
              </a:rPr>
              <a:t>Prediction Process: A user enters report details in the Predict Risk tab; the pipeline instantly returns Fatal/Non-Fatal probabilities, Risk Level, Severity Tier, and a SHAP-based explanation.</a:t>
            </a:r>
            <a:endParaRPr sz="1900">
              <a:solidFill>
                <a:schemeClr val="dk1"/>
              </a:solidFill>
            </a:endParaRPr>
          </a:p>
          <a:p>
            <a:pPr indent="-314382" lvl="0" marL="306000" rtl="0" algn="l">
              <a:lnSpc>
                <a:spcPct val="115000"/>
              </a:lnSpc>
              <a:spcBef>
                <a:spcPts val="0"/>
              </a:spcBef>
              <a:spcAft>
                <a:spcPts val="0"/>
              </a:spcAft>
              <a:buSzPts val="1788"/>
              <a:buChar char="◼"/>
            </a:pPr>
            <a:r>
              <a:rPr lang="en-IN" sz="1900">
                <a:solidFill>
                  <a:schemeClr val="dk1"/>
                </a:solidFill>
              </a:rPr>
              <a:t>Deployment: SHAP's TreeExplainer runs in tree_path_dependent mode with no background data, avoiding memory-mapped temp-file errors on Windows/OneDrive paths, while Streamlit's @st.cache_resource keeps the explainer loaded across reruns. The app is deployed free via GitHub + Streamlit Community Cloud</a:t>
            </a:r>
            <a:endParaRPr sz="19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RESULT</a:t>
            </a:r>
            <a:endParaRPr/>
          </a:p>
        </p:txBody>
      </p:sp>
      <p:sp>
        <p:nvSpPr>
          <p:cNvPr id="134" name="Google Shape;134;p19"/>
          <p:cNvSpPr txBox="1"/>
          <p:nvPr>
            <p:ph idx="1" type="body"/>
          </p:nvPr>
        </p:nvSpPr>
        <p:spPr>
          <a:xfrm>
            <a:off x="706650" y="1400875"/>
            <a:ext cx="11029500" cy="5457000"/>
          </a:xfrm>
          <a:prstGeom prst="rect">
            <a:avLst/>
          </a:prstGeom>
          <a:noFill/>
          <a:ln>
            <a:noFill/>
          </a:ln>
        </p:spPr>
        <p:txBody>
          <a:bodyPr anchorCtr="0" anchor="ctr" bIns="45700" lIns="91425" spcFirstLastPara="1" rIns="91425" wrap="square" tIns="45700">
            <a:noAutofit/>
          </a:bodyPr>
          <a:lstStyle/>
          <a:p>
            <a:pPr indent="-354330" lvl="0" marL="457200" rtl="0" algn="l">
              <a:lnSpc>
                <a:spcPct val="95000"/>
              </a:lnSpc>
              <a:spcBef>
                <a:spcPts val="0"/>
              </a:spcBef>
              <a:spcAft>
                <a:spcPts val="0"/>
              </a:spcAft>
              <a:buSzPts val="1980"/>
              <a:buChar char="■"/>
            </a:pPr>
            <a:r>
              <a:rPr lang="en-IN" sz="1980">
                <a:solidFill>
                  <a:schemeClr val="dk1"/>
                </a:solidFill>
              </a:rPr>
              <a:t>Dataset: 528,000 FAERS reports (2015–2026) — 10.3% fatal, 74.8% serious, 35.6% hospitalized. US contributes the largest report volume, followed by Canada and Japan.</a:t>
            </a:r>
            <a:endParaRPr sz="1980">
              <a:solidFill>
                <a:schemeClr val="dk1"/>
              </a:solidFill>
            </a:endParaRPr>
          </a:p>
          <a:p>
            <a:pPr indent="-354330" lvl="0" marL="457200" rtl="0" algn="l">
              <a:lnSpc>
                <a:spcPct val="95000"/>
              </a:lnSpc>
              <a:spcBef>
                <a:spcPts val="0"/>
              </a:spcBef>
              <a:spcAft>
                <a:spcPts val="0"/>
              </a:spcAft>
              <a:buSzPts val="1980"/>
              <a:buChar char="■"/>
            </a:pPr>
            <a:r>
              <a:rPr lang="en-IN" sz="1980">
                <a:solidFill>
                  <a:schemeClr val="dk1"/>
                </a:solidFill>
              </a:rPr>
              <a:t>Model comparison (5-fold CV ROC-AUC): Logistic Regression 0.7499, Gradient Boosting 0.8118, RandomForest 0.8128 (selected — best accuracy with lowest variance). Final held-out performance: ROC-AUC 0.8117, Accuracy 67.58%, weighted F1 0.7393.</a:t>
            </a:r>
            <a:endParaRPr sz="1980">
              <a:solidFill>
                <a:schemeClr val="dk1"/>
              </a:solidFill>
            </a:endParaRPr>
          </a:p>
          <a:p>
            <a:pPr indent="-354330" lvl="0" marL="457200" rtl="0" algn="l">
              <a:lnSpc>
                <a:spcPct val="95000"/>
              </a:lnSpc>
              <a:spcBef>
                <a:spcPts val="0"/>
              </a:spcBef>
              <a:spcAft>
                <a:spcPts val="0"/>
              </a:spcAft>
              <a:buSzPts val="1980"/>
              <a:buChar char="■"/>
            </a:pPr>
            <a:r>
              <a:rPr lang="en-IN" sz="1980">
                <a:solidFill>
                  <a:schemeClr val="dk1"/>
                </a:solidFill>
              </a:rPr>
              <a:t>SHAP analysis shows patient_sex and age_group as the strongest drivers that increase predicted fatal risk, while drug_count_category (polypharmacy) and report_age_days tend to reduce it.</a:t>
            </a:r>
            <a:endParaRPr sz="1980">
              <a:solidFill>
                <a:schemeClr val="dk1"/>
              </a:solidFill>
            </a:endParaRPr>
          </a:p>
          <a:p>
            <a:pPr indent="-354330" lvl="0" marL="457200" rtl="0" algn="l">
              <a:lnSpc>
                <a:spcPct val="95000"/>
              </a:lnSpc>
              <a:spcBef>
                <a:spcPts val="0"/>
              </a:spcBef>
              <a:spcAft>
                <a:spcPts val="0"/>
              </a:spcAft>
              <a:buSzPts val="1980"/>
              <a:buChar char="■"/>
            </a:pPr>
            <a:r>
              <a:rPr lang="en-IN" sz="1980">
                <a:solidFill>
                  <a:schemeClr val="dk1"/>
                </a:solidFill>
              </a:rPr>
              <a:t> Risk Heatmap: fatal rate rises from 13% (Infant) to 23% (Elderly 81+) with age; highest-risk cell overall is Adult(19–40) × Unknown drug-count at 37.5%. By sex: Male 13%, Unknown 11%, Female 8%.</a:t>
            </a:r>
            <a:endParaRPr sz="1980">
              <a:solidFill>
                <a:schemeClr val="dk1"/>
              </a:solidFill>
            </a:endParaRPr>
          </a:p>
          <a:p>
            <a:pPr indent="-354330" lvl="0" marL="457200" rtl="0" algn="l">
              <a:lnSpc>
                <a:spcPct val="95000"/>
              </a:lnSpc>
              <a:spcBef>
                <a:spcPts val="0"/>
              </a:spcBef>
              <a:spcAft>
                <a:spcPts val="0"/>
              </a:spcAft>
              <a:buSzPts val="1980"/>
              <a:buChar char="■"/>
            </a:pPr>
            <a:r>
              <a:rPr lang="en-IN" sz="1980">
                <a:solidFill>
                  <a:schemeClr val="dk1"/>
                </a:solidFill>
              </a:rPr>
              <a:t>Signal Detection flags 20,047 drug–reaction pairs by PRR/ROR (e.g., BCG Live → Bladder carcinoma, Propofol → Propofol infusion syndrome among top signals).</a:t>
            </a:r>
            <a:endParaRPr sz="1980">
              <a:solidFill>
                <a:schemeClr val="dk1"/>
              </a:solidFill>
            </a:endParaRPr>
          </a:p>
          <a:p>
            <a:pPr indent="-354330" lvl="0" marL="457200" rtl="0" algn="l">
              <a:lnSpc>
                <a:spcPct val="95000"/>
              </a:lnSpc>
              <a:spcBef>
                <a:spcPts val="0"/>
              </a:spcBef>
              <a:spcAft>
                <a:spcPts val="0"/>
              </a:spcAft>
              <a:buSzPts val="1980"/>
              <a:buChar char="■"/>
            </a:pPr>
            <a:r>
              <a:rPr lang="en-IN" sz="1980">
                <a:solidFill>
                  <a:schemeClr val="dk1"/>
                </a:solidFill>
              </a:rPr>
              <a:t>Sample case: a 66-year-old (Senior) patient on 7 drugs with 6 reactions was predicted Non-Fatal (58.6%) vs Fatal (41.4%), still flagged HIGH RISK / Life-Threatening — showing the system catches borderline danger, not just clear-cut fatalities.</a:t>
            </a:r>
            <a:endParaRPr sz="1980">
              <a:solidFill>
                <a:schemeClr val="dk1"/>
              </a:solidFill>
            </a:endParaRPr>
          </a:p>
          <a:p>
            <a:pPr indent="0" lvl="0" marL="0" rtl="0" algn="l">
              <a:lnSpc>
                <a:spcPct val="90000"/>
              </a:lnSpc>
              <a:spcBef>
                <a:spcPts val="1200"/>
              </a:spcBef>
              <a:spcAft>
                <a:spcPts val="0"/>
              </a:spcAft>
              <a:buSzPts val="1546"/>
              <a:buNone/>
            </a:pPr>
            <a:r>
              <a:t/>
            </a:r>
            <a:endParaRPr sz="1680">
              <a:solidFill>
                <a:srgbClr val="0F0F0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0"/>
          <p:cNvSpPr txBox="1"/>
          <p:nvPr>
            <p:ph type="title"/>
          </p:nvPr>
        </p:nvSpPr>
        <p:spPr>
          <a:xfrm>
            <a:off x="581192" y="702156"/>
            <a:ext cx="11029500" cy="5304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41" name="Google Shape;141;p20"/>
          <p:cNvSpPr txBox="1"/>
          <p:nvPr>
            <p:ph idx="1" type="body"/>
          </p:nvPr>
        </p:nvSpPr>
        <p:spPr>
          <a:xfrm>
            <a:off x="581192" y="1302026"/>
            <a:ext cx="11029500" cy="4673400"/>
          </a:xfrm>
          <a:prstGeom prst="rect">
            <a:avLst/>
          </a:prstGeom>
        </p:spPr>
        <p:txBody>
          <a:bodyPr anchorCtr="0" anchor="ctr" bIns="45700" lIns="91425" spcFirstLastPara="1" rIns="91425" wrap="square" tIns="45700">
            <a:normAutofit/>
          </a:bodyPr>
          <a:lstStyle/>
          <a:p>
            <a:pPr indent="0" lvl="0" marL="0" rtl="0" algn="l">
              <a:spcBef>
                <a:spcPts val="360"/>
              </a:spcBef>
              <a:spcAft>
                <a:spcPts val="600"/>
              </a:spcAft>
              <a:buNone/>
            </a:pPr>
            <a:r>
              <a:t/>
            </a:r>
            <a:endParaRPr/>
          </a:p>
        </p:txBody>
      </p:sp>
      <p:pic>
        <p:nvPicPr>
          <p:cNvPr id="142" name="Google Shape;142;p20" title="Screenshot_11-9-2026_155652_.jpeg"/>
          <p:cNvPicPr preferRelativeResize="0"/>
          <p:nvPr/>
        </p:nvPicPr>
        <p:blipFill rotWithShape="1">
          <a:blip r:embed="rId3">
            <a:alphaModFix/>
          </a:blip>
          <a:srcRect b="-1260" l="-1167" r="-1167" t="1260"/>
          <a:stretch/>
        </p:blipFill>
        <p:spPr>
          <a:xfrm>
            <a:off x="0" y="-145925"/>
            <a:ext cx="12192000" cy="7259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type="title"/>
          </p:nvPr>
        </p:nvSpPr>
        <p:spPr>
          <a:xfrm>
            <a:off x="581192" y="702156"/>
            <a:ext cx="11029500" cy="5304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49" name="Google Shape;149;p21"/>
          <p:cNvSpPr txBox="1"/>
          <p:nvPr>
            <p:ph idx="1" type="body"/>
          </p:nvPr>
        </p:nvSpPr>
        <p:spPr>
          <a:xfrm>
            <a:off x="581192" y="1302026"/>
            <a:ext cx="11029500" cy="4673400"/>
          </a:xfrm>
          <a:prstGeom prst="rect">
            <a:avLst/>
          </a:prstGeom>
        </p:spPr>
        <p:txBody>
          <a:bodyPr anchorCtr="0" anchor="ctr" bIns="45700" lIns="91425" spcFirstLastPara="1" rIns="91425" wrap="square" tIns="45700">
            <a:normAutofit/>
          </a:bodyPr>
          <a:lstStyle/>
          <a:p>
            <a:pPr indent="0" lvl="0" marL="0" rtl="0" algn="l">
              <a:spcBef>
                <a:spcPts val="360"/>
              </a:spcBef>
              <a:spcAft>
                <a:spcPts val="600"/>
              </a:spcAft>
              <a:buNone/>
            </a:pPr>
            <a:r>
              <a:t/>
            </a:r>
            <a:endParaRPr/>
          </a:p>
        </p:txBody>
      </p:sp>
      <p:pic>
        <p:nvPicPr>
          <p:cNvPr id="150" name="Google Shape;150;p21" title="Screenshot_11-9-2026_16134_.jpeg"/>
          <p:cNvPicPr preferRelativeResize="0"/>
          <p:nvPr/>
        </p:nvPicPr>
        <p:blipFill>
          <a:blip r:embed="rId3">
            <a:alphaModFix/>
          </a:blip>
          <a:stretch>
            <a:fillRect/>
          </a:stretch>
        </p:blipFill>
        <p:spPr>
          <a:xfrm>
            <a:off x="305250" y="182400"/>
            <a:ext cx="11641525" cy="6237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2"/>
          <p:cNvSpPr txBox="1"/>
          <p:nvPr>
            <p:ph type="title"/>
          </p:nvPr>
        </p:nvSpPr>
        <p:spPr>
          <a:xfrm>
            <a:off x="581192" y="702156"/>
            <a:ext cx="11029500" cy="5304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57" name="Google Shape;157;p22"/>
          <p:cNvSpPr txBox="1"/>
          <p:nvPr>
            <p:ph idx="1" type="body"/>
          </p:nvPr>
        </p:nvSpPr>
        <p:spPr>
          <a:xfrm>
            <a:off x="581192" y="1302026"/>
            <a:ext cx="11029500" cy="4673400"/>
          </a:xfrm>
          <a:prstGeom prst="rect">
            <a:avLst/>
          </a:prstGeom>
        </p:spPr>
        <p:txBody>
          <a:bodyPr anchorCtr="0" anchor="ctr" bIns="45700" lIns="91425" spcFirstLastPara="1" rIns="91425" wrap="square" tIns="45700">
            <a:normAutofit/>
          </a:bodyPr>
          <a:lstStyle/>
          <a:p>
            <a:pPr indent="0" lvl="0" marL="0" rtl="0" algn="l">
              <a:spcBef>
                <a:spcPts val="360"/>
              </a:spcBef>
              <a:spcAft>
                <a:spcPts val="600"/>
              </a:spcAft>
              <a:buNone/>
            </a:pPr>
            <a:r>
              <a:t/>
            </a:r>
            <a:endParaRPr/>
          </a:p>
        </p:txBody>
      </p:sp>
      <p:pic>
        <p:nvPicPr>
          <p:cNvPr id="158" name="Google Shape;158;p22" title="Screenshot_10-9-2026_21564_localhost.jpeg"/>
          <p:cNvPicPr preferRelativeResize="0"/>
          <p:nvPr/>
        </p:nvPicPr>
        <p:blipFill>
          <a:blip r:embed="rId3">
            <a:alphaModFix/>
          </a:blip>
          <a:stretch>
            <a:fillRect/>
          </a:stretch>
        </p:blipFill>
        <p:spPr>
          <a:xfrm>
            <a:off x="190500" y="666750"/>
            <a:ext cx="11811000" cy="5524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3" title="Screenshot_10-9-2026_215714_localhost.jpeg"/>
          <p:cNvPicPr preferRelativeResize="0"/>
          <p:nvPr/>
        </p:nvPicPr>
        <p:blipFill>
          <a:blip r:embed="rId3">
            <a:alphaModFix/>
          </a:blip>
          <a:stretch>
            <a:fillRect/>
          </a:stretch>
        </p:blipFill>
        <p:spPr>
          <a:xfrm>
            <a:off x="152400" y="152400"/>
            <a:ext cx="11811000" cy="6249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4"/>
          <p:cNvSpPr txBox="1"/>
          <p:nvPr>
            <p:ph type="title"/>
          </p:nvPr>
        </p:nvSpPr>
        <p:spPr>
          <a:xfrm>
            <a:off x="581192" y="702156"/>
            <a:ext cx="11029500" cy="5304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71" name="Google Shape;171;p24"/>
          <p:cNvSpPr txBox="1"/>
          <p:nvPr>
            <p:ph idx="1" type="body"/>
          </p:nvPr>
        </p:nvSpPr>
        <p:spPr>
          <a:xfrm>
            <a:off x="581192" y="1302026"/>
            <a:ext cx="11029500" cy="4673400"/>
          </a:xfrm>
          <a:prstGeom prst="rect">
            <a:avLst/>
          </a:prstGeom>
        </p:spPr>
        <p:txBody>
          <a:bodyPr anchorCtr="0" anchor="ctr" bIns="45700" lIns="91425" spcFirstLastPara="1" rIns="91425" wrap="square" tIns="45700">
            <a:normAutofit/>
          </a:bodyPr>
          <a:lstStyle/>
          <a:p>
            <a:pPr indent="0" lvl="0" marL="0" rtl="0" algn="l">
              <a:spcBef>
                <a:spcPts val="360"/>
              </a:spcBef>
              <a:spcAft>
                <a:spcPts val="600"/>
              </a:spcAft>
              <a:buNone/>
            </a:pPr>
            <a:r>
              <a:t/>
            </a:r>
            <a:endParaRPr/>
          </a:p>
        </p:txBody>
      </p:sp>
      <p:pic>
        <p:nvPicPr>
          <p:cNvPr id="172" name="Google Shape;172;p24" title="Screenshot_10-9-2026_22344_localhost.jpeg"/>
          <p:cNvPicPr preferRelativeResize="0"/>
          <p:nvPr/>
        </p:nvPicPr>
        <p:blipFill>
          <a:blip r:embed="rId3">
            <a:alphaModFix/>
          </a:blip>
          <a:stretch>
            <a:fillRect/>
          </a:stretch>
        </p:blipFill>
        <p:spPr>
          <a:xfrm>
            <a:off x="190500" y="419500"/>
            <a:ext cx="11811000" cy="60372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txBox="1"/>
          <p:nvPr>
            <p:ph type="title"/>
          </p:nvPr>
        </p:nvSpPr>
        <p:spPr>
          <a:xfrm>
            <a:off x="581192" y="702156"/>
            <a:ext cx="11029500" cy="5304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79" name="Google Shape;179;p25"/>
          <p:cNvSpPr txBox="1"/>
          <p:nvPr>
            <p:ph idx="1" type="body"/>
          </p:nvPr>
        </p:nvSpPr>
        <p:spPr>
          <a:xfrm>
            <a:off x="581192" y="1302026"/>
            <a:ext cx="11029500" cy="4673400"/>
          </a:xfrm>
          <a:prstGeom prst="rect">
            <a:avLst/>
          </a:prstGeom>
        </p:spPr>
        <p:txBody>
          <a:bodyPr anchorCtr="0" anchor="ctr" bIns="45700" lIns="91425" spcFirstLastPara="1" rIns="91425" wrap="square" tIns="45700">
            <a:normAutofit/>
          </a:bodyPr>
          <a:lstStyle/>
          <a:p>
            <a:pPr indent="0" lvl="0" marL="0" rtl="0" algn="l">
              <a:spcBef>
                <a:spcPts val="360"/>
              </a:spcBef>
              <a:spcAft>
                <a:spcPts val="600"/>
              </a:spcAft>
              <a:buNone/>
            </a:pPr>
            <a:r>
              <a:t/>
            </a:r>
            <a:endParaRPr/>
          </a:p>
        </p:txBody>
      </p:sp>
      <p:pic>
        <p:nvPicPr>
          <p:cNvPr id="180" name="Google Shape;180;p25" title="result last.jpeg"/>
          <p:cNvPicPr preferRelativeResize="0"/>
          <p:nvPr/>
        </p:nvPicPr>
        <p:blipFill>
          <a:blip r:embed="rId3">
            <a:alphaModFix/>
          </a:blip>
          <a:stretch>
            <a:fillRect/>
          </a:stretch>
        </p:blipFill>
        <p:spPr>
          <a:xfrm>
            <a:off x="190500" y="383025"/>
            <a:ext cx="11811000" cy="58082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txBox="1"/>
          <p:nvPr>
            <p:ph type="title"/>
          </p:nvPr>
        </p:nvSpPr>
        <p:spPr>
          <a:xfrm>
            <a:off x="581192" y="702156"/>
            <a:ext cx="11029500" cy="5304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87" name="Google Shape;187;p26"/>
          <p:cNvSpPr txBox="1"/>
          <p:nvPr>
            <p:ph idx="1" type="body"/>
          </p:nvPr>
        </p:nvSpPr>
        <p:spPr>
          <a:xfrm>
            <a:off x="581192" y="1302026"/>
            <a:ext cx="11029500" cy="4673400"/>
          </a:xfrm>
          <a:prstGeom prst="rect">
            <a:avLst/>
          </a:prstGeom>
        </p:spPr>
        <p:txBody>
          <a:bodyPr anchorCtr="0" anchor="ctr" bIns="45700" lIns="91425" spcFirstLastPara="1" rIns="91425" wrap="square" tIns="45700">
            <a:normAutofit/>
          </a:bodyPr>
          <a:lstStyle/>
          <a:p>
            <a:pPr indent="0" lvl="0" marL="0" rtl="0" algn="l">
              <a:spcBef>
                <a:spcPts val="360"/>
              </a:spcBef>
              <a:spcAft>
                <a:spcPts val="600"/>
              </a:spcAft>
              <a:buNone/>
            </a:pPr>
            <a:r>
              <a:t/>
            </a:r>
            <a:endParaRPr/>
          </a:p>
        </p:txBody>
      </p:sp>
      <p:pic>
        <p:nvPicPr>
          <p:cNvPr id="188" name="Google Shape;188;p26" title="Screenshot_10-9-2026_22849_localhost.jpeg"/>
          <p:cNvPicPr preferRelativeResize="0"/>
          <p:nvPr/>
        </p:nvPicPr>
        <p:blipFill>
          <a:blip r:embed="rId3">
            <a:alphaModFix/>
          </a:blip>
          <a:stretch>
            <a:fillRect/>
          </a:stretch>
        </p:blipFill>
        <p:spPr>
          <a:xfrm>
            <a:off x="190500" y="666750"/>
            <a:ext cx="11811000" cy="5524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7"/>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CONCLUSION</a:t>
            </a:r>
            <a:endParaRPr/>
          </a:p>
        </p:txBody>
      </p:sp>
      <p:sp>
        <p:nvSpPr>
          <p:cNvPr id="194" name="Google Shape;194;p27"/>
          <p:cNvSpPr txBox="1"/>
          <p:nvPr>
            <p:ph idx="1" type="body"/>
          </p:nvPr>
        </p:nvSpPr>
        <p:spPr>
          <a:xfrm>
            <a:off x="581200" y="1302025"/>
            <a:ext cx="11029500" cy="5284200"/>
          </a:xfrm>
          <a:prstGeom prst="rect">
            <a:avLst/>
          </a:prstGeom>
          <a:noFill/>
          <a:ln>
            <a:noFill/>
          </a:ln>
        </p:spPr>
        <p:txBody>
          <a:bodyPr anchorCtr="0" anchor="ctr" bIns="45700" lIns="91425" spcFirstLastPara="1" rIns="91425" wrap="square" tIns="45700">
            <a:noAutofit/>
          </a:bodyPr>
          <a:lstStyle/>
          <a:p>
            <a:pPr indent="-373615" lvl="0" marL="457200" rtl="0" algn="l">
              <a:lnSpc>
                <a:spcPct val="95000"/>
              </a:lnSpc>
              <a:spcBef>
                <a:spcPts val="0"/>
              </a:spcBef>
              <a:spcAft>
                <a:spcPts val="0"/>
              </a:spcAft>
              <a:buSzPts val="2284"/>
              <a:buChar char="■"/>
            </a:pPr>
            <a:r>
              <a:rPr lang="en-IN" sz="2284">
                <a:solidFill>
                  <a:schemeClr val="dk1"/>
                </a:solidFill>
              </a:rPr>
              <a:t>PharmaGuard AI proves that spontaneous FAERS reports can be turned into an interpretable, deployable fatality-risk screening tool (ROC-AUC 0.81) that explains its own reasoning through SHAP, surfaces hidden drug-safety signals via PRR/ROR, and visualizes risk hotspots through a heatmap — all inside one lightweight Streamlit app.</a:t>
            </a:r>
            <a:endParaRPr sz="2284">
              <a:solidFill>
                <a:schemeClr val="dk1"/>
              </a:solidFill>
            </a:endParaRPr>
          </a:p>
          <a:p>
            <a:pPr indent="-373615" lvl="0" marL="457200" rtl="0" algn="l">
              <a:lnSpc>
                <a:spcPct val="95000"/>
              </a:lnSpc>
              <a:spcBef>
                <a:spcPts val="0"/>
              </a:spcBef>
              <a:spcAft>
                <a:spcPts val="0"/>
              </a:spcAft>
              <a:buSzPts val="2284"/>
              <a:buChar char="■"/>
            </a:pPr>
            <a:r>
              <a:rPr lang="en-IN" sz="2284">
                <a:solidFill>
                  <a:schemeClr val="dk1"/>
                </a:solidFill>
              </a:rPr>
              <a:t>Key challenges overcome:</a:t>
            </a:r>
            <a:br>
              <a:rPr lang="en-IN" sz="2284">
                <a:solidFill>
                  <a:schemeClr val="dk1"/>
                </a:solidFill>
              </a:rPr>
            </a:br>
            <a:r>
              <a:rPr lang="en-IN" sz="2284">
                <a:solidFill>
                  <a:schemeClr val="dk1"/>
                </a:solidFill>
              </a:rPr>
              <a:t> SHAP's default Independent masker caused [Errno 22] errors on Windows OneDrive paths — fixed by switching TreeExplainer to tree_path_dependent mode, which needs no background data and runs fully in-memory.</a:t>
            </a:r>
            <a:br>
              <a:rPr lang="en-IN" sz="2284">
                <a:solidFill>
                  <a:schemeClr val="dk1"/>
                </a:solidFill>
              </a:rPr>
            </a:br>
            <a:r>
              <a:rPr lang="en-IN" sz="2284">
                <a:solidFill>
                  <a:schemeClr val="dk1"/>
                </a:solidFill>
              </a:rPr>
              <a:t> Streamlit's cache held a stale, broken explainer object across code changes — fixed by rebuilding the cache cleanly on restart.</a:t>
            </a:r>
            <a:endParaRPr sz="2284">
              <a:solidFill>
                <a:schemeClr val="dk1"/>
              </a:solidFill>
            </a:endParaRPr>
          </a:p>
          <a:p>
            <a:pPr indent="0" lvl="0" marL="0" rtl="0" algn="l">
              <a:lnSpc>
                <a:spcPct val="95000"/>
              </a:lnSpc>
              <a:spcBef>
                <a:spcPts val="1200"/>
              </a:spcBef>
              <a:spcAft>
                <a:spcPts val="1200"/>
              </a:spcAft>
              <a:buClr>
                <a:schemeClr val="dk1"/>
              </a:buClr>
              <a:buSzPts val="853"/>
              <a:buFont typeface="Arial"/>
              <a:buNone/>
            </a:pPr>
            <a:r>
              <a:rPr lang="en-IN" sz="2284">
                <a:solidFill>
                  <a:schemeClr val="dk1"/>
                </a:solidFill>
              </a:rPr>
              <a:t>Improvement scope: current accuracy (67.6%) leaves room for richer features and additional models before any real-world pharmacovigilance use.</a:t>
            </a:r>
            <a:endParaRPr sz="1650">
              <a:solidFill>
                <a:srgbClr val="0F0F0F"/>
              </a:solidFill>
            </a:endParaRPr>
          </a:p>
        </p:txBody>
      </p:sp>
      <p:sp>
        <p:nvSpPr>
          <p:cNvPr id="195" name="Google Shape;195;p27"/>
          <p:cNvSpPr txBox="1"/>
          <p:nvPr/>
        </p:nvSpPr>
        <p:spPr>
          <a:xfrm>
            <a:off x="7945250" y="6565275"/>
            <a:ext cx="4286400" cy="4464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t/>
            </a:r>
            <a:endParaRPr sz="1700">
              <a:solidFill>
                <a:srgbClr val="3F3F3F"/>
              </a:solidFill>
              <a:latin typeface="Libre Franklin"/>
              <a:ea typeface="Libre Franklin"/>
              <a:cs typeface="Libre Franklin"/>
              <a:sym typeface="Libre Frankli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8"/>
          <p:cNvSpPr txBox="1"/>
          <p:nvPr>
            <p:ph idx="1" type="body"/>
          </p:nvPr>
        </p:nvSpPr>
        <p:spPr>
          <a:xfrm>
            <a:off x="581192" y="1302026"/>
            <a:ext cx="11029615" cy="4673324"/>
          </a:xfrm>
          <a:prstGeom prst="rect">
            <a:avLst/>
          </a:prstGeom>
          <a:noFill/>
          <a:ln>
            <a:noFill/>
          </a:ln>
        </p:spPr>
        <p:txBody>
          <a:bodyPr anchorCtr="0" anchor="ctr" bIns="45700" lIns="91425" spcFirstLastPara="1" rIns="91425" wrap="square" tIns="45700">
            <a:normAutofit/>
          </a:bodyPr>
          <a:lstStyle/>
          <a:p>
            <a:pPr indent="-368300" lvl="0" marL="457200" rtl="0" algn="l">
              <a:spcBef>
                <a:spcPts val="0"/>
              </a:spcBef>
              <a:spcAft>
                <a:spcPts val="0"/>
              </a:spcAft>
              <a:buSzPts val="2200"/>
              <a:buChar char="■"/>
            </a:pPr>
            <a:r>
              <a:rPr lang="en-IN" sz="2200">
                <a:solidFill>
                  <a:schemeClr val="dk1"/>
                </a:solidFill>
              </a:rPr>
              <a:t>Add and compare more models (XGBoost, Logistic Regression) with a model-selection dropdown.</a:t>
            </a:r>
            <a:endParaRPr sz="2200">
              <a:solidFill>
                <a:schemeClr val="dk1"/>
              </a:solidFill>
            </a:endParaRPr>
          </a:p>
          <a:p>
            <a:pPr indent="-368300" lvl="0" marL="457200" rtl="0" algn="l">
              <a:spcBef>
                <a:spcPts val="0"/>
              </a:spcBef>
              <a:spcAft>
                <a:spcPts val="0"/>
              </a:spcAft>
              <a:buSzPts val="2200"/>
              <a:buChar char="■"/>
            </a:pPr>
            <a:r>
              <a:rPr lang="en-IN" sz="2200">
                <a:solidFill>
                  <a:schemeClr val="dk1"/>
                </a:solidFill>
              </a:rPr>
              <a:t>Add drug-name search and autocomplete for faster case lookup.</a:t>
            </a:r>
            <a:endParaRPr sz="2200">
              <a:solidFill>
                <a:schemeClr val="dk1"/>
              </a:solidFill>
            </a:endParaRPr>
          </a:p>
          <a:p>
            <a:pPr indent="-368300" lvl="0" marL="457200" rtl="0" algn="l">
              <a:spcBef>
                <a:spcPts val="0"/>
              </a:spcBef>
              <a:spcAft>
                <a:spcPts val="0"/>
              </a:spcAft>
              <a:buSzPts val="2200"/>
              <a:buChar char="■"/>
            </a:pPr>
            <a:r>
              <a:rPr lang="en-IN" sz="2200">
                <a:solidFill>
                  <a:schemeClr val="dk1"/>
                </a:solidFill>
              </a:rPr>
              <a:t>Add a login/authentication page for multi-user, role-based access.</a:t>
            </a:r>
            <a:endParaRPr sz="2200">
              <a:solidFill>
                <a:schemeClr val="dk1"/>
              </a:solidFill>
            </a:endParaRPr>
          </a:p>
          <a:p>
            <a:pPr indent="-368300" lvl="0" marL="457200" rtl="0" algn="l">
              <a:spcBef>
                <a:spcPts val="0"/>
              </a:spcBef>
              <a:spcAft>
                <a:spcPts val="0"/>
              </a:spcAft>
              <a:buSzPts val="2200"/>
              <a:buChar char="■"/>
            </a:pPr>
            <a:r>
              <a:rPr lang="en-IN" sz="2200">
                <a:solidFill>
                  <a:schemeClr val="dk1"/>
                </a:solidFill>
              </a:rPr>
              <a:t>Expand beyond the current single-country field to global regulatory sources (EMA, WHO VigiBase).</a:t>
            </a:r>
            <a:endParaRPr sz="2200">
              <a:solidFill>
                <a:schemeClr val="dk1"/>
              </a:solidFill>
            </a:endParaRPr>
          </a:p>
          <a:p>
            <a:pPr indent="-368300" lvl="0" marL="457200" rtl="0" algn="l">
              <a:lnSpc>
                <a:spcPct val="110000"/>
              </a:lnSpc>
              <a:spcBef>
                <a:spcPts val="0"/>
              </a:spcBef>
              <a:spcAft>
                <a:spcPts val="0"/>
              </a:spcAft>
              <a:buSzPts val="2200"/>
              <a:buChar char="■"/>
            </a:pPr>
            <a:r>
              <a:rPr lang="en-IN" sz="2200">
                <a:solidFill>
                  <a:schemeClr val="dk1"/>
                </a:solidFill>
              </a:rPr>
              <a:t>Automate retraining on new FAERS quarterly releases, with email/PDF alerts for newly detected high-risk signals. </a:t>
            </a:r>
            <a:endParaRPr sz="2200">
              <a:solidFill>
                <a:schemeClr val="dk1"/>
              </a:solidFill>
            </a:endParaRPr>
          </a:p>
          <a:p>
            <a:pPr indent="-206121" lvl="0" marL="305435" rtl="0" algn="l">
              <a:lnSpc>
                <a:spcPct val="110000"/>
              </a:lnSpc>
              <a:spcBef>
                <a:spcPts val="940"/>
              </a:spcBef>
              <a:spcAft>
                <a:spcPts val="0"/>
              </a:spcAft>
              <a:buSzPts val="1564"/>
              <a:buNone/>
            </a:pPr>
            <a:r>
              <a:t/>
            </a:r>
            <a:endParaRPr>
              <a:solidFill>
                <a:schemeClr val="dk1"/>
              </a:solidFill>
            </a:endParaRPr>
          </a:p>
        </p:txBody>
      </p:sp>
      <p:sp>
        <p:nvSpPr>
          <p:cNvPr id="201" name="Google Shape;201;p28"/>
          <p:cNvSpPr txBox="1"/>
          <p:nvPr/>
        </p:nvSpPr>
        <p:spPr>
          <a:xfrm>
            <a:off x="535670" y="844659"/>
            <a:ext cx="11029500" cy="530400"/>
          </a:xfrm>
          <a:prstGeom prst="rect">
            <a:avLst/>
          </a:prstGeom>
          <a:noFill/>
          <a:ln>
            <a:noFill/>
          </a:ln>
        </p:spPr>
        <p:txBody>
          <a:bodyPr anchorCtr="0" anchor="b" bIns="45700" lIns="91425" spcFirstLastPara="1" rIns="91425" wrap="square" tIns="45700">
            <a:normAutofit fontScale="75000" lnSpcReduction="20000"/>
          </a:bodyPr>
          <a:lstStyle/>
          <a:p>
            <a:pPr indent="0" lvl="0" marL="0" marR="0" rtl="0" algn="l">
              <a:lnSpc>
                <a:spcPct val="100000"/>
              </a:lnSpc>
              <a:spcBef>
                <a:spcPts val="0"/>
              </a:spcBef>
              <a:spcAft>
                <a:spcPts val="0"/>
              </a:spcAft>
              <a:buClr>
                <a:schemeClr val="accent1"/>
              </a:buClr>
              <a:buSzPct val="100000"/>
              <a:buFont typeface="Arial"/>
              <a:buNone/>
            </a:pPr>
            <a:r>
              <a:rPr b="1" lang="en-IN" sz="4400" cap="none">
                <a:solidFill>
                  <a:schemeClr val="accent1"/>
                </a:solidFill>
                <a:latin typeface="Arial"/>
                <a:ea typeface="Arial"/>
                <a:cs typeface="Arial"/>
                <a:sym typeface="Arial"/>
              </a:rPr>
              <a:t>FUTURE SCOPE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9"/>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REFERENCES</a:t>
            </a:r>
            <a:endParaRPr/>
          </a:p>
        </p:txBody>
      </p:sp>
      <p:sp>
        <p:nvSpPr>
          <p:cNvPr id="207" name="Google Shape;207;p29"/>
          <p:cNvSpPr txBox="1"/>
          <p:nvPr>
            <p:ph idx="1" type="body"/>
          </p:nvPr>
        </p:nvSpPr>
        <p:spPr>
          <a:xfrm>
            <a:off x="581200" y="1302025"/>
            <a:ext cx="11029500" cy="5116800"/>
          </a:xfrm>
          <a:prstGeom prst="rect">
            <a:avLst/>
          </a:prstGeom>
          <a:noFill/>
          <a:ln>
            <a:noFill/>
          </a:ln>
        </p:spPr>
        <p:txBody>
          <a:bodyPr anchorCtr="0" anchor="ctr" bIns="45700" lIns="91425" spcFirstLastPara="1" rIns="91425" wrap="square" tIns="45700">
            <a:normAutofit fontScale="32500"/>
          </a:bodyPr>
          <a:lstStyle/>
          <a:p>
            <a:pPr indent="0" lvl="0" marL="0" rtl="0" algn="l">
              <a:lnSpc>
                <a:spcPct val="115000"/>
              </a:lnSpc>
              <a:spcBef>
                <a:spcPts val="0"/>
              </a:spcBef>
              <a:spcAft>
                <a:spcPts val="0"/>
              </a:spcAft>
              <a:buNone/>
            </a:pPr>
            <a:r>
              <a:t/>
            </a:r>
            <a:endParaRPr sz="4076">
              <a:solidFill>
                <a:srgbClr val="0F0F0F"/>
              </a:solidFill>
              <a:latin typeface="Arial"/>
              <a:ea typeface="Arial"/>
              <a:cs typeface="Arial"/>
              <a:sym typeface="Arial"/>
            </a:endParaRPr>
          </a:p>
          <a:p>
            <a:pPr indent="-355669" lvl="0" marL="306000" rtl="0" algn="l">
              <a:lnSpc>
                <a:spcPct val="115000"/>
              </a:lnSpc>
              <a:spcBef>
                <a:spcPts val="1200"/>
              </a:spcBef>
              <a:spcAft>
                <a:spcPts val="0"/>
              </a:spcAft>
              <a:buSzPct val="97505"/>
              <a:buFont typeface="Arial"/>
              <a:buChar char="◼"/>
            </a:pPr>
            <a:r>
              <a:rPr lang="en-IN" sz="7694">
                <a:solidFill>
                  <a:srgbClr val="0F0F0F"/>
                </a:solidFill>
                <a:latin typeface="Arial"/>
                <a:ea typeface="Arial"/>
                <a:cs typeface="Arial"/>
                <a:sym typeface="Arial"/>
              </a:rPr>
              <a:t>FDA FAERS Public Dashboard — adverse event report data, 2015–2026</a:t>
            </a:r>
            <a:endParaRPr sz="7694">
              <a:solidFill>
                <a:srgbClr val="0F0F0F"/>
              </a:solidFill>
              <a:latin typeface="Arial"/>
              <a:ea typeface="Arial"/>
              <a:cs typeface="Arial"/>
              <a:sym typeface="Arial"/>
            </a:endParaRPr>
          </a:p>
          <a:p>
            <a:pPr indent="-355669" lvl="0" marL="306000" rtl="0" algn="l">
              <a:lnSpc>
                <a:spcPct val="115000"/>
              </a:lnSpc>
              <a:spcBef>
                <a:spcPts val="0"/>
              </a:spcBef>
              <a:spcAft>
                <a:spcPts val="0"/>
              </a:spcAft>
              <a:buSzPct val="97505"/>
              <a:buFont typeface="Arial"/>
              <a:buChar char="◼"/>
            </a:pPr>
            <a:r>
              <a:rPr lang="en-IN" sz="7694">
                <a:solidFill>
                  <a:srgbClr val="0F0F0F"/>
                </a:solidFill>
                <a:latin typeface="Arial"/>
                <a:ea typeface="Arial"/>
                <a:cs typeface="Arial"/>
                <a:sym typeface="Arial"/>
              </a:rPr>
              <a:t>Lundberg and Lee, A Unified Approach to Interpreting Model Predictions, SHAP, NeurIPS 2017</a:t>
            </a:r>
            <a:endParaRPr sz="7694">
              <a:solidFill>
                <a:srgbClr val="0F0F0F"/>
              </a:solidFill>
              <a:latin typeface="Arial"/>
              <a:ea typeface="Arial"/>
              <a:cs typeface="Arial"/>
              <a:sym typeface="Arial"/>
            </a:endParaRPr>
          </a:p>
          <a:p>
            <a:pPr indent="-355669" lvl="0" marL="306000" rtl="0" algn="l">
              <a:lnSpc>
                <a:spcPct val="115000"/>
              </a:lnSpc>
              <a:spcBef>
                <a:spcPts val="0"/>
              </a:spcBef>
              <a:spcAft>
                <a:spcPts val="0"/>
              </a:spcAft>
              <a:buSzPct val="97505"/>
              <a:buFont typeface="Arial"/>
              <a:buChar char="◼"/>
            </a:pPr>
            <a:r>
              <a:rPr lang="en-IN" sz="7694">
                <a:solidFill>
                  <a:srgbClr val="0F0F0F"/>
                </a:solidFill>
                <a:latin typeface="Arial"/>
                <a:ea typeface="Arial"/>
                <a:cs typeface="Arial"/>
                <a:sym typeface="Arial"/>
              </a:rPr>
              <a:t>Breiman, L., Random Forests, Machine Learning, 2001</a:t>
            </a:r>
            <a:endParaRPr sz="7694">
              <a:solidFill>
                <a:srgbClr val="0F0F0F"/>
              </a:solidFill>
              <a:latin typeface="Arial"/>
              <a:ea typeface="Arial"/>
              <a:cs typeface="Arial"/>
              <a:sym typeface="Arial"/>
            </a:endParaRPr>
          </a:p>
          <a:p>
            <a:pPr indent="-355669" lvl="0" marL="306000" rtl="0" algn="l">
              <a:lnSpc>
                <a:spcPct val="115000"/>
              </a:lnSpc>
              <a:spcBef>
                <a:spcPts val="0"/>
              </a:spcBef>
              <a:spcAft>
                <a:spcPts val="0"/>
              </a:spcAft>
              <a:buSzPct val="97505"/>
              <a:buFont typeface="Arial"/>
              <a:buChar char="◼"/>
            </a:pPr>
            <a:r>
              <a:rPr lang="en-IN" sz="7694">
                <a:solidFill>
                  <a:srgbClr val="0F0F0F"/>
                </a:solidFill>
                <a:latin typeface="Arial"/>
                <a:ea typeface="Arial"/>
                <a:cs typeface="Arial"/>
                <a:sym typeface="Arial"/>
              </a:rPr>
              <a:t>scikit-learn documentation — RandomForestClassifier</a:t>
            </a:r>
            <a:endParaRPr sz="7694">
              <a:solidFill>
                <a:srgbClr val="0F0F0F"/>
              </a:solidFill>
              <a:latin typeface="Arial"/>
              <a:ea typeface="Arial"/>
              <a:cs typeface="Arial"/>
              <a:sym typeface="Arial"/>
            </a:endParaRPr>
          </a:p>
          <a:p>
            <a:pPr indent="-355669" lvl="0" marL="306000" rtl="0" algn="l">
              <a:lnSpc>
                <a:spcPct val="115000"/>
              </a:lnSpc>
              <a:spcBef>
                <a:spcPts val="0"/>
              </a:spcBef>
              <a:spcAft>
                <a:spcPts val="0"/>
              </a:spcAft>
              <a:buSzPct val="97505"/>
              <a:buFont typeface="Arial"/>
              <a:buChar char="◼"/>
            </a:pPr>
            <a:r>
              <a:rPr lang="en-IN" sz="7694">
                <a:solidFill>
                  <a:srgbClr val="0F0F0F"/>
                </a:solidFill>
                <a:latin typeface="Arial"/>
                <a:ea typeface="Arial"/>
                <a:cs typeface="Arial"/>
                <a:sym typeface="Arial"/>
              </a:rPr>
              <a:t>Streamlit documentation</a:t>
            </a:r>
            <a:endParaRPr sz="7694">
              <a:solidFill>
                <a:srgbClr val="0F0F0F"/>
              </a:solidFill>
              <a:latin typeface="Arial"/>
              <a:ea typeface="Arial"/>
              <a:cs typeface="Arial"/>
              <a:sym typeface="Arial"/>
            </a:endParaRPr>
          </a:p>
          <a:p>
            <a:pPr indent="-355669" lvl="0" marL="306000" rtl="0" algn="l">
              <a:lnSpc>
                <a:spcPct val="115000"/>
              </a:lnSpc>
              <a:spcBef>
                <a:spcPts val="0"/>
              </a:spcBef>
              <a:spcAft>
                <a:spcPts val="0"/>
              </a:spcAft>
              <a:buSzPct val="97505"/>
              <a:buFont typeface="Arial"/>
              <a:buChar char="◼"/>
            </a:pPr>
            <a:r>
              <a:rPr lang="en-IN" sz="7694">
                <a:solidFill>
                  <a:srgbClr val="0F0F0F"/>
                </a:solidFill>
                <a:latin typeface="Arial"/>
                <a:ea typeface="Arial"/>
                <a:cs typeface="Arial"/>
                <a:sym typeface="Arial"/>
              </a:rPr>
              <a:t>ReportLab documentation — PDF generation library</a:t>
            </a:r>
            <a:endParaRPr sz="7694">
              <a:solidFill>
                <a:srgbClr val="0F0F0F"/>
              </a:solidFill>
              <a:latin typeface="Arial"/>
              <a:ea typeface="Arial"/>
              <a:cs typeface="Arial"/>
              <a:sym typeface="Arial"/>
            </a:endParaRPr>
          </a:p>
          <a:p>
            <a:pPr indent="-355669" lvl="0" marL="306000" rtl="0" algn="l">
              <a:lnSpc>
                <a:spcPct val="115000"/>
              </a:lnSpc>
              <a:spcBef>
                <a:spcPts val="0"/>
              </a:spcBef>
              <a:spcAft>
                <a:spcPts val="0"/>
              </a:spcAft>
              <a:buSzPct val="97505"/>
              <a:buFont typeface="Arial"/>
              <a:buChar char="◼"/>
            </a:pPr>
            <a:r>
              <a:rPr lang="en-IN" sz="7694">
                <a:solidFill>
                  <a:srgbClr val="0F0F0F"/>
                </a:solidFill>
                <a:latin typeface="Arial"/>
                <a:ea typeface="Arial"/>
                <a:cs typeface="Arial"/>
                <a:sym typeface="Arial"/>
              </a:rPr>
              <a:t>GitHub </a:t>
            </a:r>
            <a:endParaRPr sz="7694">
              <a:solidFill>
                <a:srgbClr val="0F0F0F"/>
              </a:solidFill>
              <a:latin typeface="Arial"/>
              <a:ea typeface="Arial"/>
              <a:cs typeface="Arial"/>
              <a:sym typeface="Arial"/>
            </a:endParaRPr>
          </a:p>
          <a:p>
            <a:pPr indent="0" lvl="0" marL="306000" rtl="0" algn="l">
              <a:lnSpc>
                <a:spcPct val="115000"/>
              </a:lnSpc>
              <a:spcBef>
                <a:spcPts val="1200"/>
              </a:spcBef>
              <a:spcAft>
                <a:spcPts val="0"/>
              </a:spcAft>
              <a:buNone/>
            </a:pPr>
            <a:br>
              <a:rPr lang="en-IN" sz="3470">
                <a:solidFill>
                  <a:srgbClr val="0F0F0F"/>
                </a:solidFill>
              </a:rPr>
            </a:br>
            <a:r>
              <a:rPr lang="en-IN" sz="2400">
                <a:solidFill>
                  <a:srgbClr val="0F0F0F"/>
                </a:solidFill>
              </a:rPr>
              <a:t> </a:t>
            </a:r>
            <a:endParaRPr sz="2400">
              <a:solidFill>
                <a:srgbClr val="0F0F0F"/>
              </a:solidFill>
            </a:endParaRPr>
          </a:p>
          <a:p>
            <a:pPr indent="0" lvl="0" marL="306000" rtl="0" algn="l">
              <a:lnSpc>
                <a:spcPct val="110000"/>
              </a:lnSpc>
              <a:spcBef>
                <a:spcPts val="1200"/>
              </a:spcBef>
              <a:spcAft>
                <a:spcPts val="0"/>
              </a:spcAft>
              <a:buNone/>
            </a:pPr>
            <a:r>
              <a:t/>
            </a:r>
            <a:endParaRPr/>
          </a:p>
          <a:p>
            <a:pPr indent="0" lvl="0" marL="0" rtl="0" algn="l">
              <a:lnSpc>
                <a:spcPct val="110000"/>
              </a:lnSpc>
              <a:spcBef>
                <a:spcPts val="1080"/>
              </a:spcBef>
              <a:spcAft>
                <a:spcPts val="0"/>
              </a:spcAft>
              <a:buNone/>
            </a:pPr>
            <a:r>
              <a:t/>
            </a:r>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IN"/>
              <a:t>DEPLOYMENT LINK / GITHUB LINK</a:t>
            </a:r>
            <a:endParaRPr/>
          </a:p>
        </p:txBody>
      </p:sp>
      <p:sp>
        <p:nvSpPr>
          <p:cNvPr id="213" name="Google Shape;213;p30"/>
          <p:cNvSpPr txBox="1"/>
          <p:nvPr>
            <p:ph idx="1" type="body"/>
          </p:nvPr>
        </p:nvSpPr>
        <p:spPr>
          <a:xfrm>
            <a:off x="581200" y="1302025"/>
            <a:ext cx="11029500" cy="5012400"/>
          </a:xfrm>
          <a:prstGeom prst="rect">
            <a:avLst/>
          </a:prstGeom>
          <a:noFill/>
          <a:ln>
            <a:noFill/>
          </a:ln>
        </p:spPr>
        <p:txBody>
          <a:bodyPr anchorCtr="0" anchor="ctr" bIns="45700" lIns="91425" spcFirstLastPara="1" rIns="91425" wrap="square" tIns="45700">
            <a:normAutofit/>
          </a:bodyPr>
          <a:lstStyle/>
          <a:p>
            <a:pPr indent="-368935" lvl="0" marL="305435" rtl="0" algn="l">
              <a:lnSpc>
                <a:spcPct val="110000"/>
              </a:lnSpc>
              <a:spcBef>
                <a:spcPts val="0"/>
              </a:spcBef>
              <a:spcAft>
                <a:spcPts val="0"/>
              </a:spcAft>
              <a:buSzPts val="2564"/>
              <a:buChar char="◼"/>
            </a:pPr>
            <a:r>
              <a:rPr lang="en-IN" sz="2700">
                <a:solidFill>
                  <a:schemeClr val="dk1"/>
                </a:solidFill>
              </a:rPr>
              <a:t>GithubLink:</a:t>
            </a:r>
            <a:r>
              <a:rPr lang="en-IN" sz="2700" u="sng">
                <a:solidFill>
                  <a:schemeClr val="hlink"/>
                </a:solidFill>
                <a:hlinkClick r:id="rId3"/>
              </a:rPr>
              <a:t>https://github.com/Cathrinrabaca/PharmaGuard-AI-Explainable-AI-Based-Pharmacovigilance-.git</a:t>
            </a:r>
            <a:endParaRPr sz="2700">
              <a:solidFill>
                <a:schemeClr val="dk1"/>
              </a:solidFill>
            </a:endParaRPr>
          </a:p>
          <a:p>
            <a:pPr indent="-377571" lvl="0" marL="305435" rtl="0" algn="l">
              <a:lnSpc>
                <a:spcPct val="110000"/>
              </a:lnSpc>
              <a:spcBef>
                <a:spcPts val="0"/>
              </a:spcBef>
              <a:spcAft>
                <a:spcPts val="0"/>
              </a:spcAft>
              <a:buClr>
                <a:schemeClr val="dk1"/>
              </a:buClr>
              <a:buSzPts val="2700"/>
              <a:buChar char="◼"/>
            </a:pPr>
            <a:r>
              <a:t/>
            </a:r>
            <a:endParaRPr sz="2700">
              <a:solidFill>
                <a:schemeClr val="dk1"/>
              </a:solidFill>
            </a:endParaRPr>
          </a:p>
          <a:p>
            <a:pPr indent="-368935" lvl="0" marL="305435" rtl="0" algn="l">
              <a:lnSpc>
                <a:spcPct val="110000"/>
              </a:lnSpc>
              <a:spcBef>
                <a:spcPts val="0"/>
              </a:spcBef>
              <a:spcAft>
                <a:spcPts val="0"/>
              </a:spcAft>
              <a:buSzPts val="2564"/>
              <a:buChar char="◼"/>
            </a:pPr>
            <a:r>
              <a:rPr lang="en-IN" sz="2700">
                <a:solidFill>
                  <a:schemeClr val="dk1"/>
                </a:solidFill>
              </a:rPr>
              <a:t>Deployment: HF, Streamlit Link, Gradio (OPTIONAL)</a:t>
            </a:r>
            <a:endParaRPr sz="2700">
              <a:solidFill>
                <a:schemeClr val="dk1"/>
              </a:solidFill>
            </a:endParaRPr>
          </a:p>
          <a:p>
            <a:pPr indent="-368935" lvl="0" marL="305435" rtl="0" algn="l">
              <a:lnSpc>
                <a:spcPct val="110000"/>
              </a:lnSpc>
              <a:spcBef>
                <a:spcPts val="940"/>
              </a:spcBef>
              <a:spcAft>
                <a:spcPts val="0"/>
              </a:spcAft>
              <a:buSzPts val="2564"/>
              <a:buChar char="◼"/>
            </a:pPr>
            <a:r>
              <a:rPr lang="en-IN" sz="2700" u="sng">
                <a:solidFill>
                  <a:schemeClr val="dk1"/>
                </a:solidFill>
                <a:hlinkClick r:id="rId4">
                  <a:extLst>
                    <a:ext uri="{A12FA001-AC4F-418D-AE19-62706E023703}">
                      <ahyp:hlinkClr val="tx"/>
                    </a:ext>
                  </a:extLst>
                </a:hlinkClick>
              </a:rPr>
              <a:t>Streamlit</a:t>
            </a:r>
            <a:r>
              <a:rPr lang="en-IN" sz="2700">
                <a:solidFill>
                  <a:schemeClr val="dk1"/>
                </a:solidFill>
              </a:rPr>
              <a:t>: </a:t>
            </a:r>
            <a:r>
              <a:rPr lang="en-IN" sz="2700" u="sng">
                <a:solidFill>
                  <a:schemeClr val="hlink"/>
                </a:solidFill>
                <a:hlinkClick r:id="rId5"/>
              </a:rPr>
              <a:t>https://o45ui9fsfwsltdd5saj5jf.streamlit.app/</a:t>
            </a:r>
            <a:endParaRPr sz="27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ph type="title"/>
          </p:nvPr>
        </p:nvSpPr>
        <p:spPr>
          <a:xfrm>
            <a:off x="1463041" y="2766218"/>
            <a:ext cx="9298744" cy="1325563"/>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rgbClr val="002060"/>
              </a:buClr>
              <a:buSzPts val="2800"/>
              <a:buFont typeface="Arial"/>
              <a:buNone/>
            </a:pPr>
            <a:r>
              <a:rPr b="1" lang="en-IN">
                <a:solidFill>
                  <a:srgbClr val="002060"/>
                </a:solidFill>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